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4" r:id="rId3"/>
    <p:sldMasterId id="2147483656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59" r:id="rId8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38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ngjing (P)" initials="P(" lastIdx="7" clrIdx="0"/>
  <p:cmAuthor id="2" name="zhangzijiao (A)" initials="z(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A"/>
    <a:srgbClr val="B04046"/>
    <a:srgbClr val="0000FF"/>
    <a:srgbClr val="3333FF"/>
    <a:srgbClr val="FFFF00"/>
    <a:srgbClr val="000000"/>
    <a:srgbClr val="00B050"/>
    <a:srgbClr val="FFFFFF"/>
    <a:srgbClr val="3366FF"/>
    <a:srgbClr val="E90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6291"/>
  </p:normalViewPr>
  <p:slideViewPr>
    <p:cSldViewPr snapToGrid="0" snapToObjects="1" showGuides="1">
      <p:cViewPr>
        <p:scale>
          <a:sx n="94" d="100"/>
          <a:sy n="94" d="100"/>
        </p:scale>
        <p:origin x="536" y="160"/>
      </p:cViewPr>
      <p:guideLst>
        <p:guide pos="3738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93047" y="6219307"/>
            <a:ext cx="2626428" cy="322753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Security Level: HW Confidential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644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247120" cy="372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altLang="zh-CN" sz="2400" b="1" dirty="0">
                <a:solidFill>
                  <a:srgbClr val="B04046"/>
                </a:solidFill>
                <a:latin typeface="+mj-ea"/>
                <a:ea typeface="+mj-ea"/>
              </a:rPr>
              <a:t>MFE </a:t>
            </a:r>
            <a:r>
              <a:rPr lang="zh-CN" altLang="en-US" sz="2400" b="1" dirty="0">
                <a:solidFill>
                  <a:srgbClr val="B04046"/>
                </a:solidFill>
                <a:latin typeface="+mj-ea"/>
                <a:ea typeface="+mj-ea"/>
              </a:rPr>
              <a:t>推理系统总体介绍</a:t>
            </a:r>
            <a:endParaRPr sz="2400" b="1" dirty="0">
              <a:solidFill>
                <a:srgbClr val="B04046"/>
              </a:solidFill>
              <a:latin typeface="+mj-ea"/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11475720" cy="320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8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722608" y="6711696"/>
            <a:ext cx="164592" cy="1463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41248"/>
            <a:ext cx="525780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+mj-ea"/>
                <a:ea typeface="+mj-ea"/>
              </a:rPr>
              <a:t>系统定位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1225296"/>
            <a:ext cx="5257800" cy="20497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MFE (Multi-Flow Execution)</a:t>
            </a:r>
            <a:r>
              <a:rPr lang="zh-CN" altLang="en-US" dirty="0"/>
              <a:t> 是面向多请求、多推理实例的 </a:t>
            </a:r>
            <a:r>
              <a:rPr lang="en-US" altLang="zh-CN" dirty="0"/>
              <a:t>LLM </a:t>
            </a:r>
            <a:r>
              <a:rPr lang="zh-CN" altLang="en-US" dirty="0"/>
              <a:t>工作流执行系统。其支持用户通过 </a:t>
            </a:r>
            <a:r>
              <a:rPr lang="en-US" altLang="zh-CN" dirty="0"/>
              <a:t>YAML </a:t>
            </a:r>
            <a:r>
              <a:rPr lang="zh-CN" altLang="en-US" dirty="0"/>
              <a:t>定义 </a:t>
            </a:r>
            <a:r>
              <a:rPr lang="en-US" altLang="zh-CN" dirty="0"/>
              <a:t>DAG </a:t>
            </a:r>
            <a:r>
              <a:rPr lang="zh-CN" altLang="en-US" dirty="0"/>
              <a:t>工作流，并以多请求异步方式调度到 </a:t>
            </a:r>
            <a:r>
              <a:rPr lang="en-US" altLang="zh-CN" dirty="0"/>
              <a:t>GPU </a:t>
            </a:r>
            <a:r>
              <a:rPr lang="zh-CN" altLang="en-US" dirty="0"/>
              <a:t>池，实现各类复杂工作流的高效并行运行。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MFE </a:t>
            </a:r>
            <a:r>
              <a:rPr lang="zh-CN" altLang="en-US" dirty="0"/>
              <a:t>支持多种工作流模板的统一执行，通过 </a:t>
            </a:r>
            <a:r>
              <a:rPr lang="en-US" altLang="zh-CN" dirty="0"/>
              <a:t>Optimizer </a:t>
            </a:r>
            <a:r>
              <a:rPr lang="zh-CN" altLang="en-US" dirty="0"/>
              <a:t>监控、调度并管理各实例的运行。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" y="3271416"/>
            <a:ext cx="525780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+mj-ea"/>
                <a:ea typeface="+mj-ea"/>
              </a:rPr>
              <a:t>代码文件结构</a:t>
            </a:r>
            <a:endParaRPr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3646740"/>
            <a:ext cx="5513832" cy="3120854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mfe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├── components/      # </a:t>
            </a:r>
            <a:r>
              <a:rPr lang="zh-CN" altLang="en-US" dirty="0">
                <a:latin typeface="Consolas" panose="020B0609020204030204" pitchFamily="49" charset="0"/>
              </a:rPr>
              <a:t>组件数据结构定义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├── optimizers/      # </a:t>
            </a:r>
            <a:r>
              <a:rPr lang="zh-CN" altLang="en-US" dirty="0">
                <a:latin typeface="Consolas" panose="020B0609020204030204" pitchFamily="49" charset="0"/>
              </a:rPr>
              <a:t>调度器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│   └── multi_request.py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├── workers/         # </a:t>
            </a:r>
            <a:r>
              <a:rPr lang="zh-CN" altLang="en-US" dirty="0">
                <a:latin typeface="Consolas" panose="020B0609020204030204" pitchFamily="49" charset="0"/>
              </a:rPr>
              <a:t>推理</a:t>
            </a:r>
            <a:r>
              <a:rPr lang="en-US" altLang="zh-CN" dirty="0" err="1">
                <a:latin typeface="Consolas" panose="020B0609020204030204" pitchFamily="49" charset="0"/>
              </a:rPr>
              <a:t>vLLM</a:t>
            </a:r>
            <a:r>
              <a:rPr lang="en-US" altLang="zh-CN" dirty="0">
                <a:latin typeface="Consolas" panose="020B0609020204030204" pitchFamily="49" charset="0"/>
              </a:rPr>
              <a:t> Worker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│   └── worker_v.py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├── templates/       # YAML </a:t>
            </a:r>
            <a:r>
              <a:rPr lang="zh-CN" altLang="en-US" dirty="0">
                <a:latin typeface="Consolas" panose="020B0609020204030204" pitchFamily="49" charset="0"/>
              </a:rPr>
              <a:t>工作流模板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│   ├── </a:t>
            </a:r>
            <a:r>
              <a:rPr lang="en-US" altLang="zh-CN" dirty="0">
                <a:latin typeface="Consolas" panose="020B0609020204030204" pitchFamily="49" charset="0"/>
              </a:rPr>
              <a:t>adv_reason_3.yaml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│   └── 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├── parser.py		# YAML </a:t>
            </a:r>
            <a:r>
              <a:rPr lang="zh-CN" altLang="en-US" dirty="0">
                <a:latin typeface="Consolas" panose="020B0609020204030204" pitchFamily="49" charset="0"/>
              </a:rPr>
              <a:t>模板解析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└── …		       # </a:t>
            </a:r>
            <a:r>
              <a:rPr lang="zh-CN" altLang="en-US" dirty="0">
                <a:latin typeface="Consolas" panose="020B0609020204030204" pitchFamily="49" charset="0"/>
              </a:rPr>
              <a:t>全局设置、测试组件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841248"/>
            <a:ext cx="589788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Microsoft YaHei"/>
                <a:ea typeface="+mj-ea"/>
              </a:rPr>
              <a:t>执行链路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502" y="1354511"/>
            <a:ext cx="5306333" cy="299923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D4B610-341C-D66C-5FDC-147AF1CA02F1}"/>
              </a:ext>
            </a:extLst>
          </p:cNvPr>
          <p:cNvSpPr txBox="1"/>
          <p:nvPr/>
        </p:nvSpPr>
        <p:spPr>
          <a:xfrm>
            <a:off x="5844667" y="4604381"/>
            <a:ext cx="6202553" cy="177279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ea typeface="等线 Light" panose="02010600030101010101" charset="-122"/>
              </a:defRPr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模拟客户端和服务进程。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Optimizer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是调度器，负责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解析、任务节点就绪判断、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调度、结果收集等。其与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通过多进程队列协作：向空闲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下发执行信息；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执行推理后，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Optimizer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回收并更新各请求。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是绑定单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的执行进程，是一个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644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247120" cy="372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altLang="zh-CN" sz="2400" b="1" dirty="0">
                <a:solidFill>
                  <a:srgbClr val="B04046"/>
                </a:solidFill>
                <a:latin typeface="+mj-ea"/>
                <a:ea typeface="+mj-ea"/>
              </a:rPr>
              <a:t>MFE </a:t>
            </a:r>
            <a:r>
              <a:rPr lang="zh-CN" altLang="en-US" sz="2400" b="1" dirty="0">
                <a:solidFill>
                  <a:srgbClr val="B04046"/>
                </a:solidFill>
                <a:latin typeface="+mj-ea"/>
                <a:ea typeface="+mj-ea"/>
              </a:rPr>
              <a:t>推理系统</a:t>
            </a:r>
            <a:r>
              <a:rPr sz="2400" b="1" dirty="0" err="1">
                <a:solidFill>
                  <a:srgbClr val="B04046"/>
                </a:solidFill>
                <a:latin typeface="+mj-ea"/>
                <a:ea typeface="+mj-ea"/>
              </a:rPr>
              <a:t>运行演示</a:t>
            </a:r>
            <a:endParaRPr sz="2400" b="1" dirty="0">
              <a:solidFill>
                <a:srgbClr val="B04046"/>
              </a:solidFill>
              <a:latin typeface="+mj-ea"/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11475720" cy="320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8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722608" y="6711696"/>
            <a:ext cx="164592" cy="1463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41248"/>
            <a:ext cx="576072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Microsoft YaHei"/>
              </a:rPr>
              <a:t>adv_reason_3：多请求调度日志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08176"/>
            <a:ext cx="5504688" cy="57754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adv_reason_3.yaml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是一个要求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Chain of Thought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步思考的一种工作流，如图所示。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HotpotQA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adv_reason_3.yaml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对大量数据进行运行测试，日志记录如下。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[Worker]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[OPT]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代表调度模块。观察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[Worker 4]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，其完成第一个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节点任务并返回结果后，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[OPT]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马上给其分配了新的任务。多个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[Worker x]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同时运行也表明，系统能够按指定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进行并行调度与执行。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841248"/>
            <a:ext cx="553212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+mj-ea"/>
                <a:ea typeface="+mj-ea"/>
              </a:rPr>
              <a:t>性能统计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2148351"/>
            <a:ext cx="3291840" cy="518789"/>
          </a:xfrm>
          <a:prstGeom prst="rect">
            <a:avLst/>
          </a:prstGeom>
        </p:spPr>
      </p:pic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22" y="3365746"/>
            <a:ext cx="5360324" cy="1682892"/>
          </a:xfrm>
          <a:prstGeom prst="rect">
            <a:avLst/>
          </a:prstGeom>
        </p:spPr>
      </p:pic>
      <p:sp>
        <p:nvSpPr>
          <p:cNvPr id="22" name="TextBox 9">
            <a:extLst>
              <a:ext uri="{FF2B5EF4-FFF2-40B4-BE49-F238E27FC236}">
                <a16:creationId xmlns:a16="http://schemas.microsoft.com/office/drawing/2014/main" id="{207915C8-BBE7-020C-7C6B-3C8C54D62279}"/>
              </a:ext>
            </a:extLst>
          </p:cNvPr>
          <p:cNvSpPr txBox="1"/>
          <p:nvPr/>
        </p:nvSpPr>
        <p:spPr>
          <a:xfrm>
            <a:off x="6434380" y="4853765"/>
            <a:ext cx="5504687" cy="188609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上图展示了系统输出的性能统计。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我们记录了每条请求在各工作流节点上的执行耗时，以及到达、开始、完成、等待和总延迟等时间信息。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通过这些日志，可以分析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工作流的节点耗时、整体响应延迟与调度效率，为后续分析、优化提供依据。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26BEB16-C723-430D-EB65-35088F66E4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0" b="20228"/>
          <a:stretch>
            <a:fillRect/>
          </a:stretch>
        </p:blipFill>
        <p:spPr>
          <a:xfrm>
            <a:off x="7046503" y="1256665"/>
            <a:ext cx="3802103" cy="3424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644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11475720" cy="320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8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722608" y="6711696"/>
            <a:ext cx="164592" cy="1463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C1C86A7B-EFE9-CC08-9419-8C0FFCB6BF26}"/>
              </a:ext>
            </a:extLst>
          </p:cNvPr>
          <p:cNvSpPr txBox="1"/>
          <p:nvPr/>
        </p:nvSpPr>
        <p:spPr>
          <a:xfrm>
            <a:off x="320040" y="137160"/>
            <a:ext cx="11247120" cy="372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altLang="zh-CN" sz="2400" b="1" dirty="0">
                <a:solidFill>
                  <a:srgbClr val="B04046"/>
                </a:solidFill>
                <a:latin typeface="+mj-ea"/>
                <a:ea typeface="+mj-ea"/>
              </a:rPr>
              <a:t>MFE </a:t>
            </a:r>
            <a:r>
              <a:rPr lang="zh-CN" altLang="en-US" sz="2400" b="1" dirty="0">
                <a:solidFill>
                  <a:srgbClr val="B04046"/>
                </a:solidFill>
                <a:latin typeface="+mj-ea"/>
                <a:ea typeface="+mj-ea"/>
              </a:rPr>
              <a:t>推理系统性能对比</a:t>
            </a:r>
            <a:endParaRPr sz="2400" b="1" dirty="0">
              <a:solidFill>
                <a:srgbClr val="B04046"/>
              </a:solidFill>
              <a:latin typeface="+mj-ea"/>
              <a:ea typeface="+mj-ea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678838-2E46-C25C-3026-28194028B64A}"/>
              </a:ext>
            </a:extLst>
          </p:cNvPr>
          <p:cNvSpPr/>
          <p:nvPr/>
        </p:nvSpPr>
        <p:spPr>
          <a:xfrm>
            <a:off x="320040" y="841248"/>
            <a:ext cx="1147572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+mj-ea"/>
                <a:ea typeface="+mj-ea"/>
              </a:rPr>
              <a:t>实验设置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0817F7A-2178-D78D-2365-75287A2B91DF}"/>
              </a:ext>
            </a:extLst>
          </p:cNvPr>
          <p:cNvSpPr txBox="1"/>
          <p:nvPr/>
        </p:nvSpPr>
        <p:spPr>
          <a:xfrm>
            <a:off x="243841" y="1198417"/>
            <a:ext cx="5764485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GSM8K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问作为对比测试集，在相同模型与工作流配置下对比评估基线（串行运行）与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的性能。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节点都使用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Llama-3.1-8B-Instruct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模型，并采用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步思考（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adv_reason_3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）、投票（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multi_voting_4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两种工作流配置（见右上）来测试两种方案。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50496F7-C614-10BE-91B0-A69B9356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167" y="1667086"/>
            <a:ext cx="3471400" cy="54708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3EE2FB6-ABE7-6660-015B-D606DD830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62" y="1348740"/>
            <a:ext cx="1896918" cy="1145738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A17E5C4-EF42-9AF9-4017-F09EE8A36776}"/>
              </a:ext>
            </a:extLst>
          </p:cNvPr>
          <p:cNvSpPr txBox="1"/>
          <p:nvPr/>
        </p:nvSpPr>
        <p:spPr>
          <a:xfrm>
            <a:off x="7483568" y="2561761"/>
            <a:ext cx="43114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步思考                                投票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47AB153E-24CB-883C-F6F6-6BF18D4E8399}"/>
              </a:ext>
            </a:extLst>
          </p:cNvPr>
          <p:cNvSpPr/>
          <p:nvPr/>
        </p:nvSpPr>
        <p:spPr>
          <a:xfrm>
            <a:off x="360362" y="3213702"/>
            <a:ext cx="1147572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+mj-ea"/>
                <a:ea typeface="+mj-ea"/>
              </a:rPr>
              <a:t>性能统计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45E3F46-9173-7DEE-2378-BFB281DDB2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235" y="3598938"/>
            <a:ext cx="1795636" cy="157118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1D2BDA1-8112-C912-60C2-F57AEBD32F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880" y="3616831"/>
            <a:ext cx="1795635" cy="1571181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25F2D0BA-14EF-7E6F-3036-6E6C5EB42ADF}"/>
              </a:ext>
            </a:extLst>
          </p:cNvPr>
          <p:cNvSpPr txBox="1"/>
          <p:nvPr/>
        </p:nvSpPr>
        <p:spPr>
          <a:xfrm>
            <a:off x="243840" y="3622366"/>
            <a:ext cx="5764485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我们统计了两种方案的完成总时间、吞吐量（每秒完成请求数，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req/s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相对基线：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步思考完成总时间约降低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，吞吐量约提升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；投票完成总时间约降低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，吞吐量约提升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187%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我们统计了各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利用率。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相对基线能更均衡地使用各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步思考总利用率约由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11.8%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提升至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57.2%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；投票约由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23.6%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提升至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65.6%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DDA4C5DD-3EBF-C9F1-F927-3FD953CEF3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254" y="5271113"/>
            <a:ext cx="1981683" cy="148626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A5500356-69C3-EF52-8998-B60A051D4E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848" y="5266605"/>
            <a:ext cx="1699772" cy="143826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0BA7F7C-56E9-D483-219B-A0B204A50F5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213" y="5285803"/>
            <a:ext cx="1632395" cy="13812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644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B04046"/>
                </a:solidFill>
                <a:latin typeface="Microsoft YaHei"/>
              </a:rPr>
              <a:t>昇腾适配工作进展与后续工作计划</a:t>
            </a:r>
            <a:endParaRPr sz="2400" b="1" dirty="0">
              <a:solidFill>
                <a:srgbClr val="B04046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658368"/>
            <a:ext cx="11475720" cy="320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8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722608" y="6711696"/>
            <a:ext cx="164592" cy="146304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36E3CE53-94B2-DEB9-E6A4-B77233DA0F01}"/>
              </a:ext>
            </a:extLst>
          </p:cNvPr>
          <p:cNvSpPr/>
          <p:nvPr/>
        </p:nvSpPr>
        <p:spPr>
          <a:xfrm>
            <a:off x="320040" y="841248"/>
            <a:ext cx="576072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+mj-ea"/>
                <a:ea typeface="+mj-ea"/>
              </a:rPr>
              <a:t>昇腾适配工作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82C5999E-DEAB-98AD-0FD2-567E13073DC1}"/>
              </a:ext>
            </a:extLst>
          </p:cNvPr>
          <p:cNvSpPr/>
          <p:nvPr/>
        </p:nvSpPr>
        <p:spPr>
          <a:xfrm>
            <a:off x="6263640" y="841248"/>
            <a:ext cx="5532120" cy="347472"/>
          </a:xfrm>
          <a:prstGeom prst="rect">
            <a:avLst/>
          </a:prstGeom>
          <a:solidFill>
            <a:srgbClr val="B0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73152" bIns="18288" rtlCol="0" anchor="ctr"/>
          <a:lstStyle/>
          <a:p>
            <a:pPr algn="ctr"/>
            <a:r>
              <a:rPr lang="zh-CN" altLang="en-US" sz="1800" b="1">
                <a:solidFill>
                  <a:srgbClr val="FFFFFF"/>
                </a:solidFill>
                <a:latin typeface="+mj-ea"/>
                <a:ea typeface="+mj-ea"/>
              </a:rPr>
              <a:t>后续工作计划</a:t>
            </a:r>
            <a:endParaRPr sz="18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BE989B9B-EB27-F4B1-C8C6-D9A56431569F}"/>
              </a:ext>
            </a:extLst>
          </p:cNvPr>
          <p:cNvSpPr txBox="1"/>
          <p:nvPr/>
        </p:nvSpPr>
        <p:spPr>
          <a:xfrm>
            <a:off x="418253" y="1188720"/>
            <a:ext cx="5504688" cy="54010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上述实验主要在学校实验室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环境下完成。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下一步，我们将基于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-Ascend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，在昇腾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环境中部署和运行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系统，进一步验证系统在昇腾系列算力平台上的适配效果。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目前，我们已经在一台昇腾服务器上完成基础环境配置，并成功跑通小模型，初步验证了推理后端与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系统之间的调用链路。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之后的适配工作包括：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环境适配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完善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系统在昇腾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环境下的部署与运行流程，适配模型加载、推理调用和运行依赖，为后续性能测试与调度优化提供稳定实验环境。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性能验证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：部署与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环境一致的模型和数据集，在相同工作流模板下开展性能测试，对比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环境下的端到端延迟、吞吐和调度效率，为后续优化提供实验依据。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446E0CE9-96B1-1D85-1B91-FC869399DE6E}"/>
              </a:ext>
            </a:extLst>
          </p:cNvPr>
          <p:cNvSpPr txBox="1"/>
          <p:nvPr/>
        </p:nvSpPr>
        <p:spPr>
          <a:xfrm>
            <a:off x="6279726" y="1215828"/>
            <a:ext cx="5504688" cy="473623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调度系统下一步将围绕调度优化与原型扩展继续开展工作，包括：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请求调度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研究基于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工作流图的调度优化，结合请求亲和调度与并行请求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batching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，减少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round-trip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和队列等待开销。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探索请求依赖感知的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调度，根据工作流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和关键路径，完成差异化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调度编排策略，通过传算掩盖机制，降低端到端时延。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多机通信：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在当前单机原型基础上，探索多机部署场景下的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协同、任务分发和结果汇聚机制。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异构资源调度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探索基于亲和性的异构资源调度，利用历史信息建模资源需求，实现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GPU/NPU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动态分配与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任务亲和部署。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83</TotalTime>
  <Words>968</Words>
  <Application>Microsoft Office PowerPoint</Application>
  <PresentationFormat>自定义</PresentationFormat>
  <Paragraphs>62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微软雅黑</vt:lpstr>
      <vt:lpstr>微软雅黑</vt:lpstr>
      <vt:lpstr>Arial</vt:lpstr>
      <vt:lpstr>Calibri</vt:lpstr>
      <vt:lpstr>Consolas</vt:lpstr>
      <vt:lpstr>Wingdings</vt:lpstr>
      <vt:lpstr>封面页_图片版 </vt:lpstr>
      <vt:lpstr>目录页</vt:lpstr>
      <vt:lpstr>章节页</vt:lpstr>
      <vt:lpstr>结束页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zhuguohua (C)</dc:creator>
  <cp:lastModifiedBy>Hanyang Li</cp:lastModifiedBy>
  <cp:revision>1562</cp:revision>
  <dcterms:created xsi:type="dcterms:W3CDTF">2019-07-19T03:09:00Z</dcterms:created>
  <dcterms:modified xsi:type="dcterms:W3CDTF">2026-06-15T15:47:18Z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(3)z94moJfWC27eGbP2bD9zKbT8aSSJF/MGAfoWWYsUEV2waXGG/cjuaUK9tPT2RveBB8+Alx5p
8aBZhYJtDy2D6GpE2/iGLRode4T23wmsK+RuZPIvqTUO65RdlNA24aBewOJ77n3QKDxxwJu4
3F5LDt4j0U6ESPmqO9/NF95QNYoGboxTveOloa3GxdVxoBX9MStXaefNfZ+wZ4kdmKQf82po
SPxzHloaq20o7yjHQ7</vt:lpwstr>
  </property>
  <property fmtid="{D5CDD505-2E9C-101B-9397-08002B2CF9AE}" pid="3" name="_2015_ms_pID_7253431">
    <vt:lpwstr>kY5iZakx06065nxScrEMqkZpoyiQtduh5MXLQlYYqdNelLwwPR1K9s
s6092Xwb4tMbqFsIk8HqurIt+3DwAnQfRQ7br/Pj3dsEn4UkT3NbjUQTHvMllOr2VwVAmyfe
Eo6vTGQAfgYwTY7g0THGZcUkl5yDERzAeVfjjzsmOKf//FRMjvJfIhZfIAj/5yyrjg+npxEy
gHDirxeitolmUU2Oc/IRO2MCSkyvzSCFXLaS</vt:lpwstr>
  </property>
  <property fmtid="{D5CDD505-2E9C-101B-9397-08002B2CF9AE}" pid="4" name="_2015_ms_pID_7253432">
    <vt:lpwstr>gcf7zXIZzRfY9j+PxfkcxoE=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1754634187</vt:lpwstr>
  </property>
  <property fmtid="{D5CDD505-2E9C-101B-9397-08002B2CF9AE}" pid="9" name="ICV">
    <vt:lpwstr>EC96B809344E4A4B90D2CBF81F5E035F_12</vt:lpwstr>
  </property>
  <property fmtid="{D5CDD505-2E9C-101B-9397-08002B2CF9AE}" pid="10" name="KSOProductBuildVer">
    <vt:lpwstr>2052-12.1.0.25225</vt:lpwstr>
  </property>
</Properties>
</file>