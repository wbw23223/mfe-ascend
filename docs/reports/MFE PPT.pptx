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B5B5B5"/>
    <a:srgbClr val="DDDDDD"/>
    <a:srgbClr val="30B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92" d="100"/>
          <a:sy n="92" d="100"/>
        </p:scale>
        <p:origin x="7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50261-05CE-4315-9657-B603ABFD98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87B3-8447-4A74-BF48-FC966C802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301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87B3-8447-4A74-BF48-FC966C802A0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95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87B3-8447-4A74-BF48-FC966C802A0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38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F3FD-C6C5-D31E-CBD9-70ADAA0C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4B1478-3FB4-63CF-053D-5BA00D40F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58D1D4-184C-C8C8-ED11-E6E662923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03FB3-3709-7A35-F5B8-B3DAACBF9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87B3-8447-4A74-BF48-FC966C802A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DF9C7-6C71-8A68-4ACA-A46403BC9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9E6BE9-82A9-53E3-1CAD-C982D7438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3A960-4675-4DDA-FAA7-9504D073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8C15F-DC0E-BC11-5476-A8B20FAB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FF188-9627-25B8-428F-4045B949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8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2FF10-6D09-A9AE-2567-040E1B7A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06D435-4B51-771B-4C15-8ECBAD329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C915C-B251-8C6A-0B6D-D9E37638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AF146-506C-3362-F709-07DC9D20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D5E6C-F787-7D60-F527-123C67D2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6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3A6A0-2DD4-2B1A-5783-F14CFD6F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164965-BFC6-2930-A54B-4446C40F2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9C4A77-9339-1F78-E9AD-AE59E67E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3D2C9-4523-DF48-09DF-6179EA11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F9953-39C1-81EC-137D-7F3CF3A4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26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9227A-D8E0-1179-295B-8A7D173C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7FC13-6A21-527D-2315-84D057CA4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494DE1-1C14-A27B-6B87-A4F06CEEF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C8F23D-A916-5DCB-D77B-24CF57D4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CDB0B6-D0FD-A1B7-0EA1-A88D1E40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29D3B-DA55-A8A3-A596-BF60C6A5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35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FA438-D268-ABC9-CDFD-2F8EDFD1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E0252E-2791-B6D4-C2D0-0041B46F8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697329-7A72-A804-2933-9E5D2E207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9F547E-6227-7008-ED4D-9A49FF1B0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29BB5E-A2C9-5CE9-59F2-4DB22D324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1C628D-718A-C959-05C7-CDA681B1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755D47-3160-16CF-9072-17EFFADC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D3F5C7-DF96-C44D-4DB8-E97722A5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87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897C8-EFE0-0234-2145-BCCA7E4C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7F3AE7-A6F7-27FE-BFD8-1C79EEBB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6F2690-0CC7-874C-1901-769F3965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8F46C1-0C2A-A621-2BCA-B8F0D25A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76516D-ADB4-F0DF-6C52-48CAD675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865233-28C0-B3E3-1391-9CA7EE14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68DF6-FEF0-93E9-3813-A31AC6C7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96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A523F-FDB2-53CA-932B-B15FBF96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8C420-3CB9-48C8-2EC1-7CBC0B546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D799B5-BFB8-8337-6938-CA1BBCEB2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CF40B8-97D2-EA9F-BBD9-1F77FC8C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AC65E3-FE35-2787-2892-F23BFDF0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42ECFE-8D25-5A4A-A933-52A3DC23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7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14EA4-2E9D-2BE3-FDE9-3CCF332B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8ADA4D-8BDA-5293-F958-B7EF611CF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026FE2-5864-66D2-41B8-4CFC341B6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7E2E57-960F-D19C-7540-D79C9853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9116A-8390-553D-24B6-D25B92F2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5CCC2D-3048-3FE0-B5BB-4FFD5C7C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45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0959D-CC55-9335-8F0C-535D417F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960BE5-FF7B-2866-E071-4CFEA157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1FB4F-8E9F-D0E1-CD40-9AA8AD05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B8E7E8-E3C9-32F0-D2E3-5AB3AE8E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3ED635-E797-D930-8194-907B1B2D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24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0696A1-8FB1-AE17-0594-CAA3280C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E3DE44-4B02-7691-24E4-6B1CAC8E8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401F17-CA7B-2C4D-9B95-996EB7F6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5C96F-3F54-445D-C0D1-5E065BD0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363A0-23BF-F385-2F97-7AACFD79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25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D00AA1-BBCA-6200-CC2B-C7A7BD05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C3F194-2FA0-F1E7-ABF8-2C06BAC6B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643AD-ECC7-84B0-9F5B-CF2C1350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23F4A-72EA-4E94-9509-34B925966FC3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1A555-2474-6285-1EF3-DBF7F01C3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04445-4DCD-D844-E353-32751ECC3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826D1-2157-4695-8E11-B192860B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59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FA7B101B-DE6F-8553-8672-2BC22A869C81}"/>
              </a:ext>
            </a:extLst>
          </p:cNvPr>
          <p:cNvSpPr txBox="1"/>
          <p:nvPr/>
        </p:nvSpPr>
        <p:spPr>
          <a:xfrm>
            <a:off x="5291667" y="1490007"/>
            <a:ext cx="5066198" cy="38779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onsolas" panose="020B0609020204030204" pitchFamily="49" charset="0"/>
              </a:rPr>
              <a:t>系统总体流程图</a:t>
            </a:r>
            <a:r>
              <a:rPr lang="zh-CN" altLang="en-US" sz="1600" dirty="0">
                <a:latin typeface="Consolas" panose="020B0609020204030204" pitchFamily="49" charset="0"/>
              </a:rPr>
              <a:t>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176068-5BF2-EDFD-5C8C-BFE86CA62457}"/>
              </a:ext>
            </a:extLst>
          </p:cNvPr>
          <p:cNvSpPr txBox="1"/>
          <p:nvPr/>
        </p:nvSpPr>
        <p:spPr>
          <a:xfrm>
            <a:off x="0" y="1441132"/>
            <a:ext cx="5737268" cy="54168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onsolas" panose="020B0609020204030204" pitchFamily="49" charset="0"/>
              </a:rPr>
              <a:t>原型代码结构</a:t>
            </a:r>
            <a:r>
              <a:rPr lang="zh-CN" altLang="en-US" sz="1600" dirty="0">
                <a:latin typeface="Consolas" panose="020B0609020204030204" pitchFamily="49" charset="0"/>
              </a:rPr>
              <a:t>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mfe</a:t>
            </a:r>
            <a:r>
              <a:rPr lang="en-US" altLang="zh-CN" sz="16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components/         	# </a:t>
            </a:r>
            <a:r>
              <a:rPr lang="zh-CN" altLang="en-US" sz="1600" dirty="0">
                <a:latin typeface="Consolas" panose="020B0609020204030204" pitchFamily="49" charset="0"/>
              </a:rPr>
              <a:t>组件数据结构定义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│   ├── </a:t>
            </a:r>
            <a:r>
              <a:rPr lang="en-US" altLang="zh-CN" sz="1600" dirty="0">
                <a:latin typeface="Consolas" panose="020B0609020204030204" pitchFamily="49" charset="0"/>
              </a:rPr>
              <a:t>operator.py	# </a:t>
            </a:r>
            <a:r>
              <a:rPr lang="zh-CN" altLang="en-US" sz="1600" dirty="0">
                <a:latin typeface="Consolas" panose="020B0609020204030204" pitchFamily="49" charset="0"/>
              </a:rPr>
              <a:t>操作节点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├── model_config.py	# </a:t>
            </a:r>
            <a:r>
              <a:rPr lang="zh-CN" altLang="en-US" sz="1600" dirty="0">
                <a:latin typeface="Consolas" panose="020B0609020204030204" pitchFamily="49" charset="0"/>
              </a:rPr>
              <a:t>模型推理参数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├── query.py		# </a:t>
            </a:r>
            <a:r>
              <a:rPr lang="zh-CN" altLang="en-US" sz="1600" dirty="0">
                <a:latin typeface="Consolas" panose="020B0609020204030204" pitchFamily="49" charset="0"/>
              </a:rPr>
              <a:t>请求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└── exe_info.py	# </a:t>
            </a:r>
            <a:r>
              <a:rPr lang="zh-CN" altLang="en-US" sz="1600" dirty="0">
                <a:latin typeface="Consolas" panose="020B0609020204030204" pitchFamily="49" charset="0"/>
              </a:rPr>
              <a:t>运行信息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optimizers/        	# </a:t>
            </a:r>
            <a:r>
              <a:rPr lang="zh-CN" altLang="en-US" sz="1600" dirty="0">
                <a:latin typeface="Consolas" panose="020B0609020204030204" pitchFamily="49" charset="0"/>
              </a:rPr>
              <a:t>调度器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└── multi_request.py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workers/            	# </a:t>
            </a:r>
            <a:r>
              <a:rPr lang="zh-CN" altLang="en-US" sz="1600" dirty="0">
                <a:latin typeface="Consolas" panose="020B0609020204030204" pitchFamily="49" charset="0"/>
              </a:rPr>
              <a:t>推理</a:t>
            </a:r>
            <a:r>
              <a:rPr lang="en-US" altLang="zh-CN" sz="1600" dirty="0" err="1">
                <a:latin typeface="Consolas" panose="020B0609020204030204" pitchFamily="49" charset="0"/>
              </a:rPr>
              <a:t>vLLM</a:t>
            </a:r>
            <a:r>
              <a:rPr lang="en-US" altLang="zh-CN" sz="1600" dirty="0">
                <a:latin typeface="Consolas" panose="020B0609020204030204" pitchFamily="49" charset="0"/>
              </a:rPr>
              <a:t> Worker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└── worker_v.py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serve/              	# </a:t>
            </a:r>
            <a:r>
              <a:rPr lang="zh-CN" altLang="en-US" sz="1600" dirty="0">
                <a:latin typeface="Consolas" panose="020B0609020204030204" pitchFamily="49" charset="0"/>
              </a:rPr>
              <a:t>服务器脚本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└── server.py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scripts/            	# </a:t>
            </a:r>
            <a:r>
              <a:rPr lang="zh-CN" altLang="en-US" sz="1600" dirty="0">
                <a:latin typeface="Consolas" panose="020B0609020204030204" pitchFamily="49" charset="0"/>
              </a:rPr>
              <a:t>用户</a:t>
            </a:r>
            <a:r>
              <a:rPr lang="en-US" altLang="zh-CN" sz="1600" dirty="0">
                <a:latin typeface="Consolas" panose="020B0609020204030204" pitchFamily="49" charset="0"/>
              </a:rPr>
              <a:t>/</a:t>
            </a:r>
            <a:r>
              <a:rPr lang="zh-CN" altLang="en-US" sz="1600" dirty="0">
                <a:latin typeface="Consolas" panose="020B0609020204030204" pitchFamily="49" charset="0"/>
              </a:rPr>
              <a:t>测试脚本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│   </a:t>
            </a:r>
            <a:r>
              <a:rPr lang="en-US" altLang="zh-CN" sz="1600" dirty="0">
                <a:latin typeface="Consolas" panose="020B0609020204030204" pitchFamily="49" charset="0"/>
              </a:rPr>
              <a:t>└──</a:t>
            </a:r>
            <a:r>
              <a:rPr lang="zh-CN" altLang="en-US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</a:rPr>
              <a:t>client.py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templates/          	# YAML </a:t>
            </a:r>
            <a:r>
              <a:rPr lang="zh-CN" altLang="en-US" sz="1600" dirty="0">
                <a:latin typeface="Consolas" panose="020B0609020204030204" pitchFamily="49" charset="0"/>
              </a:rPr>
              <a:t>工作流模板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│   ├── </a:t>
            </a:r>
            <a:r>
              <a:rPr lang="en-US" altLang="zh-CN" sz="1600" dirty="0">
                <a:latin typeface="Consolas" panose="020B0609020204030204" pitchFamily="49" charset="0"/>
              </a:rPr>
              <a:t>adv_reason_3.yaml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│   └── …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parser.py		# YAML </a:t>
            </a:r>
            <a:r>
              <a:rPr lang="zh-CN" altLang="en-US" sz="1600" dirty="0">
                <a:latin typeface="Consolas" panose="020B0609020204030204" pitchFamily="49" charset="0"/>
              </a:rPr>
              <a:t>模板解析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├── util.py		# </a:t>
            </a:r>
            <a:r>
              <a:rPr lang="zh-CN" altLang="en-US" sz="1600" dirty="0">
                <a:latin typeface="Consolas" panose="020B0609020204030204" pitchFamily="49" charset="0"/>
              </a:rPr>
              <a:t>工具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└── config.py		# </a:t>
            </a:r>
            <a:r>
              <a:rPr lang="zh-CN" altLang="en-US" sz="1600" dirty="0">
                <a:latin typeface="Consolas" panose="020B0609020204030204" pitchFamily="49" charset="0"/>
              </a:rPr>
              <a:t>全局设置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1BCD69-BFAE-012D-B86C-B3749780C31C}"/>
              </a:ext>
            </a:extLst>
          </p:cNvPr>
          <p:cNvSpPr txBox="1"/>
          <p:nvPr/>
        </p:nvSpPr>
        <p:spPr>
          <a:xfrm>
            <a:off x="-13752" y="519825"/>
            <a:ext cx="12198876" cy="954107"/>
          </a:xfrm>
          <a:prstGeom prst="rect">
            <a:avLst/>
          </a:prstGeom>
          <a:solidFill>
            <a:srgbClr val="DDDDDD"/>
          </a:solidFill>
          <a:ln>
            <a:solidFill>
              <a:srgbClr val="898989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a typeface="等线 Light" panose="02010600030101010101" charset="-122"/>
              </a:rPr>
              <a:t>MFE </a:t>
            </a:r>
            <a:r>
              <a:rPr lang="en-US" altLang="zh-CN" dirty="0">
                <a:ea typeface="等线 Light" panose="02010600030101010101" charset="-122"/>
              </a:rPr>
              <a:t>(Multi-Flow Execution</a:t>
            </a:r>
            <a:r>
              <a:rPr lang="en-US" altLang="zh-CN" dirty="0"/>
              <a:t>)</a:t>
            </a:r>
            <a:r>
              <a:rPr lang="zh-CN" altLang="en-US" dirty="0"/>
              <a:t> 是一款面向多请求、多推理实例的 </a:t>
            </a:r>
            <a:r>
              <a:rPr lang="en-US" altLang="zh-CN" dirty="0"/>
              <a:t>LLM </a:t>
            </a:r>
            <a:r>
              <a:rPr lang="zh-CN" altLang="en-US" dirty="0"/>
              <a:t>工作流执行系统。支持用户通过 </a:t>
            </a:r>
            <a:r>
              <a:rPr lang="en-US" altLang="zh-CN" dirty="0"/>
              <a:t>YAML </a:t>
            </a:r>
            <a:r>
              <a:rPr lang="zh-CN" altLang="en-US" dirty="0"/>
              <a:t>定义 </a:t>
            </a:r>
            <a:r>
              <a:rPr lang="en-US" altLang="zh-CN" dirty="0"/>
              <a:t>DAG </a:t>
            </a:r>
            <a:r>
              <a:rPr lang="zh-CN" altLang="en-US" dirty="0"/>
              <a:t>工作流，并以多请求异步方式调度到 </a:t>
            </a:r>
            <a:r>
              <a:rPr lang="en-US" altLang="zh-CN" dirty="0"/>
              <a:t>GPU </a:t>
            </a:r>
            <a:r>
              <a:rPr lang="zh-CN" altLang="en-US" dirty="0"/>
              <a:t>池，实现各类复杂工作流的高效并行运行，同时提供推理结果及性能统计。</a:t>
            </a:r>
            <a:r>
              <a:rPr lang="en-US" altLang="zh-CN" dirty="0"/>
              <a:t>MFE </a:t>
            </a:r>
            <a:r>
              <a:rPr lang="zh-CN" altLang="en-US" dirty="0"/>
              <a:t>支持多种工作流模板的统一执行，通过 </a:t>
            </a:r>
            <a:r>
              <a:rPr lang="en-US" altLang="zh-CN" dirty="0"/>
              <a:t>Optimizer </a:t>
            </a:r>
            <a:r>
              <a:rPr lang="zh-CN" altLang="en-US" dirty="0"/>
              <a:t>监控、调度并管理各实例的运行。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D626CFC-4E53-3EC1-6356-A389C22FB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867" y="1859477"/>
            <a:ext cx="5511800" cy="311536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BFB2BC3-DCA6-4A51-5DE0-ABD89CED3A03}"/>
              </a:ext>
            </a:extLst>
          </p:cNvPr>
          <p:cNvSpPr txBox="1"/>
          <p:nvPr/>
        </p:nvSpPr>
        <p:spPr>
          <a:xfrm>
            <a:off x="0" y="0"/>
            <a:ext cx="200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MFE</a:t>
            </a:r>
            <a:r>
              <a:rPr lang="zh-CN" altLang="en-US" sz="2800" dirty="0"/>
              <a:t>系统</a:t>
            </a:r>
            <a:endParaRPr lang="en-US" altLang="zh-CN" sz="28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B87682-9673-C6FB-19AD-1D60345F1144}"/>
              </a:ext>
            </a:extLst>
          </p:cNvPr>
          <p:cNvCxnSpPr>
            <a:cxnSpLocks/>
          </p:cNvCxnSpPr>
          <p:nvPr/>
        </p:nvCxnSpPr>
        <p:spPr>
          <a:xfrm flipV="1">
            <a:off x="5291667" y="1473932"/>
            <a:ext cx="0" cy="5384068"/>
          </a:xfrm>
          <a:prstGeom prst="line">
            <a:avLst/>
          </a:prstGeom>
          <a:ln w="190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A3F2C3C-5D0E-3F43-2740-5CED7C2D152C}"/>
              </a:ext>
            </a:extLst>
          </p:cNvPr>
          <p:cNvSpPr txBox="1"/>
          <p:nvPr/>
        </p:nvSpPr>
        <p:spPr>
          <a:xfrm>
            <a:off x="5291667" y="5022157"/>
            <a:ext cx="6893456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Consolas" panose="020B0609020204030204" pitchFamily="49" charset="0"/>
              </a:rPr>
              <a:t>Client</a:t>
            </a:r>
            <a:r>
              <a:rPr lang="en-US" altLang="zh-CN" sz="1400" dirty="0">
                <a:latin typeface="Consolas" panose="020B0609020204030204" pitchFamily="49" charset="0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</a:rPr>
              <a:t>模拟客户端，负责发请求、收结果。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Consolas" panose="020B0609020204030204" pitchFamily="49" charset="0"/>
              </a:rPr>
              <a:t>Server</a:t>
            </a:r>
            <a:r>
              <a:rPr lang="en-US" altLang="zh-CN" sz="1400" dirty="0">
                <a:latin typeface="Consolas" panose="020B0609020204030204" pitchFamily="49" charset="0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</a:rPr>
              <a:t>是服务进程，负责与主进程 </a:t>
            </a:r>
            <a:r>
              <a:rPr lang="en-US" altLang="zh-CN" sz="1400" dirty="0">
                <a:latin typeface="Consolas" panose="020B0609020204030204" pitchFamily="49" charset="0"/>
              </a:rPr>
              <a:t>Client </a:t>
            </a:r>
            <a:r>
              <a:rPr lang="zh-CN" altLang="en-US" sz="1400" dirty="0">
                <a:latin typeface="Consolas" panose="020B0609020204030204" pitchFamily="49" charset="0"/>
              </a:rPr>
              <a:t>的进程间通信。</a:t>
            </a:r>
            <a:r>
              <a:rPr lang="en-US" altLang="zh-CN" sz="1400" dirty="0">
                <a:latin typeface="Consolas" panose="020B0609020204030204" pitchFamily="49" charset="0"/>
              </a:rPr>
              <a:t>Client </a:t>
            </a:r>
            <a:r>
              <a:rPr lang="zh-CN" altLang="en-US" sz="1400" dirty="0">
                <a:latin typeface="Consolas" panose="020B0609020204030204" pitchFamily="49" charset="0"/>
              </a:rPr>
              <a:t>通过 </a:t>
            </a:r>
            <a:r>
              <a:rPr lang="en-US" altLang="zh-CN" sz="1400" dirty="0">
                <a:latin typeface="Consolas" panose="020B0609020204030204" pitchFamily="49" charset="0"/>
              </a:rPr>
              <a:t>submit </a:t>
            </a:r>
            <a:r>
              <a:rPr lang="zh-CN" altLang="en-US" sz="1400" dirty="0">
                <a:latin typeface="Consolas" panose="020B0609020204030204" pitchFamily="49" charset="0"/>
              </a:rPr>
              <a:t>发送请求，从 </a:t>
            </a:r>
            <a:r>
              <a:rPr lang="en-US" altLang="zh-CN" sz="1400" dirty="0">
                <a:latin typeface="Consolas" panose="020B0609020204030204" pitchFamily="49" charset="0"/>
              </a:rPr>
              <a:t>Server </a:t>
            </a:r>
            <a:r>
              <a:rPr lang="zh-CN" altLang="en-US" sz="1400" dirty="0">
                <a:latin typeface="Consolas" panose="020B0609020204030204" pitchFamily="49" charset="0"/>
              </a:rPr>
              <a:t>取回请求 </a:t>
            </a:r>
            <a:r>
              <a:rPr lang="en-US" altLang="zh-CN" sz="1400" dirty="0" err="1">
                <a:latin typeface="Consolas" panose="020B0609020204030204" pitchFamily="49" charset="0"/>
              </a:rPr>
              <a:t>uid</a:t>
            </a:r>
            <a:r>
              <a:rPr lang="zh-CN" altLang="en-US" sz="1400" dirty="0">
                <a:latin typeface="Consolas" panose="020B0609020204030204" pitchFamily="49" charset="0"/>
              </a:rPr>
              <a:t>，并通过 </a:t>
            </a:r>
            <a:r>
              <a:rPr lang="en-US" altLang="zh-CN" sz="1400" dirty="0">
                <a:latin typeface="Consolas" panose="020B0609020204030204" pitchFamily="49" charset="0"/>
              </a:rPr>
              <a:t>status </a:t>
            </a:r>
            <a:r>
              <a:rPr lang="zh-CN" altLang="en-US" sz="1400" dirty="0">
                <a:latin typeface="Consolas" panose="020B0609020204030204" pitchFamily="49" charset="0"/>
              </a:rPr>
              <a:t>查询请求状态。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Consolas" panose="020B0609020204030204" pitchFamily="49" charset="0"/>
              </a:rPr>
              <a:t>Optimizer</a:t>
            </a:r>
            <a:r>
              <a:rPr lang="en-US" altLang="zh-CN" sz="1400" dirty="0">
                <a:latin typeface="Consolas" panose="020B0609020204030204" pitchFamily="49" charset="0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</a:rPr>
              <a:t>是调度器，负责 </a:t>
            </a:r>
            <a:r>
              <a:rPr lang="en-US" altLang="zh-CN" sz="1400" dirty="0">
                <a:latin typeface="Consolas" panose="020B0609020204030204" pitchFamily="49" charset="0"/>
              </a:rPr>
              <a:t>DAG </a:t>
            </a:r>
            <a:r>
              <a:rPr lang="zh-CN" altLang="en-US" sz="1400" dirty="0">
                <a:latin typeface="Consolas" panose="020B0609020204030204" pitchFamily="49" charset="0"/>
              </a:rPr>
              <a:t>解析、任务节点就绪判断、</a:t>
            </a:r>
            <a:r>
              <a:rPr lang="en-US" altLang="zh-CN" sz="1400" dirty="0">
                <a:latin typeface="Consolas" panose="020B0609020204030204" pitchFamily="49" charset="0"/>
              </a:rPr>
              <a:t>GPU </a:t>
            </a:r>
            <a:r>
              <a:rPr lang="zh-CN" altLang="en-US" sz="1400" dirty="0">
                <a:latin typeface="Consolas" panose="020B0609020204030204" pitchFamily="49" charset="0"/>
              </a:rPr>
              <a:t>调度、结果收集等。其与 </a:t>
            </a:r>
            <a:r>
              <a:rPr lang="en-US" altLang="zh-CN" sz="1400" dirty="0">
                <a:latin typeface="Consolas" panose="020B0609020204030204" pitchFamily="49" charset="0"/>
              </a:rPr>
              <a:t>Worker </a:t>
            </a:r>
            <a:r>
              <a:rPr lang="zh-CN" altLang="en-US" sz="1400" dirty="0">
                <a:latin typeface="Consolas" panose="020B0609020204030204" pitchFamily="49" charset="0"/>
              </a:rPr>
              <a:t>通过多进程队列协作：向空闲 </a:t>
            </a:r>
            <a:r>
              <a:rPr lang="en-US" altLang="zh-CN" sz="1400" dirty="0">
                <a:latin typeface="Consolas" panose="020B0609020204030204" pitchFamily="49" charset="0"/>
              </a:rPr>
              <a:t>GPU </a:t>
            </a:r>
            <a:r>
              <a:rPr lang="zh-CN" altLang="en-US" sz="1400" dirty="0">
                <a:latin typeface="Consolas" panose="020B0609020204030204" pitchFamily="49" charset="0"/>
              </a:rPr>
              <a:t>对应的 </a:t>
            </a:r>
            <a:r>
              <a:rPr lang="en-US" altLang="zh-CN" sz="1400" dirty="0">
                <a:latin typeface="Consolas" panose="020B0609020204030204" pitchFamily="49" charset="0"/>
              </a:rPr>
              <a:t>Worker </a:t>
            </a:r>
            <a:r>
              <a:rPr lang="zh-CN" altLang="en-US" sz="1400" dirty="0">
                <a:latin typeface="Consolas" panose="020B0609020204030204" pitchFamily="49" charset="0"/>
              </a:rPr>
              <a:t>的 </a:t>
            </a:r>
            <a:r>
              <a:rPr lang="en-US" altLang="zh-CN" sz="1400" dirty="0" err="1">
                <a:latin typeface="Consolas" panose="020B0609020204030204" pitchFamily="49" charset="0"/>
              </a:rPr>
              <a:t>cmd_queue</a:t>
            </a:r>
            <a:r>
              <a:rPr lang="en-US" altLang="zh-CN" sz="1400" dirty="0">
                <a:latin typeface="Consolas" panose="020B0609020204030204" pitchFamily="49" charset="0"/>
              </a:rPr>
              <a:t> </a:t>
            </a:r>
            <a:r>
              <a:rPr lang="zh-CN" altLang="en-US" sz="1400" dirty="0">
                <a:latin typeface="Consolas" panose="020B0609020204030204" pitchFamily="49" charset="0"/>
              </a:rPr>
              <a:t>下发执行信息；</a:t>
            </a:r>
            <a:r>
              <a:rPr lang="en-US" altLang="zh-CN" sz="1400" dirty="0">
                <a:latin typeface="Consolas" panose="020B0609020204030204" pitchFamily="49" charset="0"/>
              </a:rPr>
              <a:t>Worker </a:t>
            </a:r>
            <a:r>
              <a:rPr lang="zh-CN" altLang="en-US" sz="1400" dirty="0">
                <a:latin typeface="Consolas" panose="020B0609020204030204" pitchFamily="49" charset="0"/>
              </a:rPr>
              <a:t>执行推理后将结果写入 </a:t>
            </a:r>
            <a:r>
              <a:rPr lang="en-US" altLang="zh-CN" sz="1400" dirty="0" err="1">
                <a:latin typeface="Consolas" panose="020B0609020204030204" pitchFamily="49" charset="0"/>
              </a:rPr>
              <a:t>result_queue</a:t>
            </a:r>
            <a:r>
              <a:rPr lang="zh-CN" altLang="en-US" sz="1400" dirty="0">
                <a:latin typeface="Consolas" panose="020B0609020204030204" pitchFamily="49" charset="0"/>
              </a:rPr>
              <a:t>，</a:t>
            </a:r>
            <a:r>
              <a:rPr lang="en-US" altLang="zh-CN" sz="1400" dirty="0">
                <a:latin typeface="Consolas" panose="020B0609020204030204" pitchFamily="49" charset="0"/>
              </a:rPr>
              <a:t>Optimizer </a:t>
            </a:r>
            <a:r>
              <a:rPr lang="zh-CN" altLang="en-US" sz="1400" dirty="0">
                <a:latin typeface="Consolas" panose="020B0609020204030204" pitchFamily="49" charset="0"/>
              </a:rPr>
              <a:t>回收并更新各请求的 </a:t>
            </a:r>
            <a:r>
              <a:rPr lang="en-US" altLang="zh-CN" sz="1400" dirty="0" err="1">
                <a:latin typeface="Consolas" panose="020B0609020204030204" pitchFamily="49" charset="0"/>
              </a:rPr>
              <a:t>op_output</a:t>
            </a:r>
            <a:r>
              <a:rPr lang="en-US" altLang="zh-CN" sz="1400" dirty="0">
                <a:latin typeface="Consolas" panose="020B0609020204030204" pitchFamily="49" charset="0"/>
              </a:rPr>
              <a:t> </a:t>
            </a:r>
            <a:r>
              <a:rPr lang="zh-CN" altLang="en-US" sz="1400" dirty="0">
                <a:latin typeface="Consolas" panose="020B0609020204030204" pitchFamily="49" charset="0"/>
              </a:rPr>
              <a:t>与 </a:t>
            </a:r>
            <a:r>
              <a:rPr lang="en-US" altLang="zh-CN" sz="1400" dirty="0">
                <a:latin typeface="Consolas" panose="020B0609020204030204" pitchFamily="49" charset="0"/>
              </a:rPr>
              <a:t>benchmark</a:t>
            </a:r>
            <a:r>
              <a:rPr lang="zh-CN" altLang="en-US" sz="1400" dirty="0">
                <a:latin typeface="Consolas" panose="020B0609020204030204" pitchFamily="49" charset="0"/>
              </a:rPr>
              <a:t>。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Consolas" panose="020B0609020204030204" pitchFamily="49" charset="0"/>
              </a:rPr>
              <a:t>Worker</a:t>
            </a:r>
            <a:r>
              <a:rPr lang="en-US" altLang="zh-CN" sz="1400" dirty="0">
                <a:latin typeface="Consolas" panose="020B0609020204030204" pitchFamily="49" charset="0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</a:rPr>
              <a:t>是绑定单 </a:t>
            </a:r>
            <a:r>
              <a:rPr lang="en-US" altLang="zh-CN" sz="1400" dirty="0">
                <a:latin typeface="Consolas" panose="020B0609020204030204" pitchFamily="49" charset="0"/>
              </a:rPr>
              <a:t>GPU </a:t>
            </a:r>
            <a:r>
              <a:rPr lang="zh-CN" altLang="en-US" sz="1400" dirty="0">
                <a:latin typeface="Consolas" panose="020B0609020204030204" pitchFamily="49" charset="0"/>
              </a:rPr>
              <a:t>的执行进程，是一个 </a:t>
            </a:r>
            <a:r>
              <a:rPr lang="en-US" altLang="zh-CN" sz="1400" dirty="0" err="1">
                <a:latin typeface="Consolas" panose="020B0609020204030204" pitchFamily="49" charset="0"/>
              </a:rPr>
              <a:t>vLLM</a:t>
            </a:r>
            <a:r>
              <a:rPr lang="en-US" altLang="zh-CN" sz="1400" dirty="0">
                <a:latin typeface="Consolas" panose="020B0609020204030204" pitchFamily="49" charset="0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</a:rPr>
              <a:t>实例。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379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DCF5-F3B9-3B1A-A239-5E5575FD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44A81A9A-40EC-6D4F-B0D8-4FFB842DAB5D}"/>
              </a:ext>
            </a:extLst>
          </p:cNvPr>
          <p:cNvSpPr txBox="1"/>
          <p:nvPr/>
        </p:nvSpPr>
        <p:spPr>
          <a:xfrm>
            <a:off x="7131472" y="5275820"/>
            <a:ext cx="506052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nsolas" panose="020B0609020204030204" pitchFamily="49" charset="0"/>
              </a:rPr>
              <a:t>上面一个性能统计的例子。</a:t>
            </a:r>
            <a:r>
              <a:rPr lang="en-US" altLang="zh-CN" sz="1600" dirty="0">
                <a:latin typeface="Consolas" panose="020B0609020204030204" pitchFamily="49" charset="0"/>
              </a:rPr>
              <a:t>multi_voting_4.yaml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是一个由 </a:t>
            </a:r>
            <a:r>
              <a:rPr lang="en-US" altLang="zh-CN" sz="1600" dirty="0">
                <a:latin typeface="Consolas" panose="020B0609020204030204" pitchFamily="49" charset="0"/>
              </a:rPr>
              <a:t>op0, op1, op2 </a:t>
            </a:r>
            <a:r>
              <a:rPr lang="zh-CN" altLang="en-US" sz="1600" dirty="0">
                <a:latin typeface="Consolas" panose="020B0609020204030204" pitchFamily="49" charset="0"/>
              </a:rPr>
              <a:t>分别完成任务，</a:t>
            </a:r>
            <a:r>
              <a:rPr lang="en-US" altLang="zh-CN" sz="1600" dirty="0">
                <a:latin typeface="Consolas" panose="020B0609020204030204" pitchFamily="49" charset="0"/>
              </a:rPr>
              <a:t>op3 </a:t>
            </a:r>
            <a:r>
              <a:rPr lang="zh-CN" altLang="en-US" sz="1600" dirty="0">
                <a:latin typeface="Consolas" panose="020B0609020204030204" pitchFamily="49" charset="0"/>
              </a:rPr>
              <a:t>根据其回答投票选出回答的一个工作流。</a:t>
            </a:r>
            <a:r>
              <a:rPr lang="en-US" altLang="zh-CN" sz="1600" dirty="0">
                <a:latin typeface="Consolas" panose="020B0609020204030204" pitchFamily="49" charset="0"/>
              </a:rPr>
              <a:t>op0, op1, op2 </a:t>
            </a:r>
            <a:r>
              <a:rPr lang="zh-CN" altLang="en-US" sz="1600" dirty="0">
                <a:latin typeface="Consolas" panose="020B0609020204030204" pitchFamily="49" charset="0"/>
              </a:rPr>
              <a:t>三者运行顺序随意，但 </a:t>
            </a:r>
            <a:r>
              <a:rPr lang="en-US" altLang="zh-CN" sz="1600" dirty="0">
                <a:latin typeface="Consolas" panose="020B0609020204030204" pitchFamily="49" charset="0"/>
              </a:rPr>
              <a:t>op3 </a:t>
            </a:r>
            <a:r>
              <a:rPr lang="zh-CN" altLang="en-US" sz="1600" dirty="0">
                <a:latin typeface="Consolas" panose="020B0609020204030204" pitchFamily="49" charset="0"/>
              </a:rPr>
              <a:t>需要在前者均完成后才能开始。 </a:t>
            </a:r>
            <a:r>
              <a:rPr lang="en-US" altLang="zh-CN" sz="1600" dirty="0">
                <a:latin typeface="Consolas" panose="020B0609020204030204" pitchFamily="49" charset="0"/>
              </a:rPr>
              <a:t>benchmark </a:t>
            </a:r>
            <a:r>
              <a:rPr lang="zh-CN" altLang="en-US" sz="1600" dirty="0">
                <a:latin typeface="Consolas" panose="020B0609020204030204" pitchFamily="49" charset="0"/>
              </a:rPr>
              <a:t>统计了每个</a:t>
            </a:r>
            <a:r>
              <a:rPr lang="en-US" altLang="zh-CN" sz="1600" dirty="0">
                <a:latin typeface="Consolas" panose="020B0609020204030204" pitchFamily="49" charset="0"/>
              </a:rPr>
              <a:t> op </a:t>
            </a:r>
            <a:r>
              <a:rPr lang="zh-CN" altLang="en-US" sz="1600" dirty="0">
                <a:latin typeface="Consolas" panose="020B0609020204030204" pitchFamily="49" charset="0"/>
              </a:rPr>
              <a:t>的运行相对时刻，可以发现符合要求。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EC5F2F-7902-5D6D-BA86-B6660BE5A200}"/>
              </a:ext>
            </a:extLst>
          </p:cNvPr>
          <p:cNvSpPr txBox="1"/>
          <p:nvPr/>
        </p:nvSpPr>
        <p:spPr>
          <a:xfrm>
            <a:off x="0" y="0"/>
            <a:ext cx="2378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运行演示</a:t>
            </a:r>
            <a:endParaRPr lang="en-US" altLang="zh-CN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E62D1F-078C-8E90-AB13-177835D1C1DB}"/>
              </a:ext>
            </a:extLst>
          </p:cNvPr>
          <p:cNvSpPr txBox="1"/>
          <p:nvPr/>
        </p:nvSpPr>
        <p:spPr>
          <a:xfrm>
            <a:off x="570" y="646651"/>
            <a:ext cx="7130332" cy="61863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使用 </a:t>
            </a:r>
            <a:r>
              <a:rPr lang="en-US" altLang="zh-CN" dirty="0" err="1">
                <a:latin typeface="Consolas" panose="020B0609020204030204" pitchFamily="49" charset="0"/>
              </a:rPr>
              <a:t>hotpotqa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数据集及</a:t>
            </a:r>
            <a:r>
              <a:rPr lang="en-US" altLang="zh-CN" dirty="0">
                <a:latin typeface="Consolas" panose="020B0609020204030204" pitchFamily="49" charset="0"/>
              </a:rPr>
              <a:t> adv_reason_3.yaml </a:t>
            </a:r>
            <a:r>
              <a:rPr lang="zh-CN" altLang="en-US" dirty="0">
                <a:latin typeface="Consolas" panose="020B0609020204030204" pitchFamily="49" charset="0"/>
              </a:rPr>
              <a:t>对大量数据进行运行测试，开头</a:t>
            </a:r>
            <a:r>
              <a:rPr lang="en-US" altLang="zh-CN" dirty="0">
                <a:latin typeface="Consolas" panose="020B0609020204030204" pitchFamily="49" charset="0"/>
              </a:rPr>
              <a:t>log</a:t>
            </a:r>
            <a:r>
              <a:rPr lang="zh-CN" altLang="en-US" dirty="0">
                <a:latin typeface="Consolas" panose="020B0609020204030204" pitchFamily="49" charset="0"/>
              </a:rPr>
              <a:t>如下（省略了第一次执行派发和 </a:t>
            </a:r>
            <a:r>
              <a:rPr lang="en-US" altLang="zh-CN" dirty="0" err="1">
                <a:latin typeface="Consolas" panose="020B0609020204030204" pitchFamily="49" charset="0"/>
              </a:rPr>
              <a:t>vLLM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启动）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其中，</a:t>
            </a:r>
            <a:r>
              <a:rPr lang="en-US" altLang="zh-CN" dirty="0">
                <a:latin typeface="Consolas" panose="020B0609020204030204" pitchFamily="49" charset="0"/>
              </a:rPr>
              <a:t>log </a:t>
            </a:r>
            <a:r>
              <a:rPr lang="zh-CN" altLang="en-US" dirty="0">
                <a:latin typeface="Consolas" panose="020B0609020204030204" pitchFamily="49" charset="0"/>
              </a:rPr>
              <a:t>中 </a:t>
            </a:r>
            <a:r>
              <a:rPr lang="en-US" altLang="zh-CN" dirty="0">
                <a:latin typeface="Consolas" panose="020B0609020204030204" pitchFamily="49" charset="0"/>
              </a:rPr>
              <a:t>[Worker x] </a:t>
            </a:r>
            <a:r>
              <a:rPr lang="zh-CN" altLang="en-US" dirty="0">
                <a:latin typeface="Consolas" panose="020B0609020204030204" pitchFamily="49" charset="0"/>
              </a:rPr>
              <a:t>代表一个 </a:t>
            </a:r>
            <a:r>
              <a:rPr lang="en-US" altLang="zh-CN" dirty="0" err="1">
                <a:latin typeface="Consolas" panose="020B0609020204030204" pitchFamily="49" charset="0"/>
              </a:rPr>
              <a:t>vLLM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实例，</a:t>
            </a:r>
            <a:r>
              <a:rPr lang="en-US" altLang="zh-CN" dirty="0">
                <a:latin typeface="Consolas" panose="020B0609020204030204" pitchFamily="49" charset="0"/>
              </a:rPr>
              <a:t>[OPT]</a:t>
            </a:r>
            <a:r>
              <a:rPr lang="zh-CN" altLang="en-US" dirty="0">
                <a:latin typeface="Consolas" panose="020B0609020204030204" pitchFamily="49" charset="0"/>
              </a:rPr>
              <a:t>代表</a:t>
            </a:r>
            <a:r>
              <a:rPr lang="en-US" altLang="zh-CN" dirty="0">
                <a:latin typeface="Consolas" panose="020B0609020204030204" pitchFamily="49" charset="0"/>
              </a:rPr>
              <a:t>optimizer </a:t>
            </a:r>
            <a:r>
              <a:rPr lang="zh-CN" altLang="en-US" dirty="0">
                <a:latin typeface="Consolas" panose="020B0609020204030204" pitchFamily="49" charset="0"/>
              </a:rPr>
              <a:t>模块，</a:t>
            </a:r>
            <a:r>
              <a:rPr lang="en-US" altLang="zh-CN" dirty="0">
                <a:latin typeface="Consolas" panose="020B0609020204030204" pitchFamily="49" charset="0"/>
              </a:rPr>
              <a:t>[Worker X] sent result </a:t>
            </a:r>
            <a:r>
              <a:rPr lang="zh-CN" altLang="en-US" dirty="0">
                <a:latin typeface="Consolas" panose="020B0609020204030204" pitchFamily="49" charset="0"/>
              </a:rPr>
              <a:t>代表这个实例做完了分配给的任务，使用了 </a:t>
            </a:r>
            <a:r>
              <a:rPr lang="en-US" altLang="zh-CN" dirty="0">
                <a:latin typeface="Consolas" panose="020B0609020204030204" pitchFamily="49" charset="0"/>
              </a:rPr>
              <a:t>elapsed</a:t>
            </a:r>
            <a:r>
              <a:rPr lang="zh-CN" altLang="en-US" dirty="0">
                <a:latin typeface="Consolas" panose="020B0609020204030204" pitchFamily="49" charset="0"/>
              </a:rPr>
              <a:t> 所示时间。（由于初始化</a:t>
            </a:r>
            <a:r>
              <a:rPr lang="en-US" altLang="zh-CN" dirty="0" err="1">
                <a:latin typeface="Consolas" panose="020B0609020204030204" pitchFamily="49" charset="0"/>
              </a:rPr>
              <a:t>vLLM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载入模型需要较长时间启动，前几个 </a:t>
            </a:r>
            <a:r>
              <a:rPr lang="en-US" altLang="zh-CN" dirty="0">
                <a:latin typeface="Consolas" panose="020B0609020204030204" pitchFamily="49" charset="0"/>
              </a:rPr>
              <a:t>Worker </a:t>
            </a:r>
            <a:r>
              <a:rPr lang="zh-CN" altLang="en-US" dirty="0">
                <a:latin typeface="Consolas" panose="020B0609020204030204" pitchFamily="49" charset="0"/>
              </a:rPr>
              <a:t>第一次执行的完成时间较长，都在</a:t>
            </a:r>
            <a:r>
              <a:rPr lang="en-US" altLang="zh-CN" dirty="0">
                <a:latin typeface="Consolas" panose="020B0609020204030204" pitchFamily="49" charset="0"/>
              </a:rPr>
              <a:t>30s</a:t>
            </a:r>
            <a:r>
              <a:rPr lang="zh-CN" altLang="en-US" dirty="0">
                <a:latin typeface="Consolas" panose="020B0609020204030204" pitchFamily="49" charset="0"/>
              </a:rPr>
              <a:t>左右）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观察 </a:t>
            </a:r>
            <a:r>
              <a:rPr lang="en-US" altLang="zh-CN" dirty="0">
                <a:latin typeface="Consolas" panose="020B0609020204030204" pitchFamily="49" charset="0"/>
              </a:rPr>
              <a:t>[Worker 4]</a:t>
            </a:r>
            <a:r>
              <a:rPr lang="zh-CN" altLang="en-US" dirty="0">
                <a:latin typeface="Consolas" panose="020B0609020204030204" pitchFamily="49" charset="0"/>
              </a:rPr>
              <a:t>，其耗时 </a:t>
            </a:r>
            <a:r>
              <a:rPr lang="en-US" altLang="zh-CN" dirty="0">
                <a:latin typeface="Consolas" panose="020B0609020204030204" pitchFamily="49" charset="0"/>
              </a:rPr>
              <a:t>29.190s </a:t>
            </a:r>
            <a:r>
              <a:rPr lang="zh-CN" altLang="en-US" dirty="0">
                <a:latin typeface="Consolas" panose="020B0609020204030204" pitchFamily="49" charset="0"/>
              </a:rPr>
              <a:t>完成第一个 </a:t>
            </a:r>
            <a:r>
              <a:rPr lang="en-US" altLang="zh-CN" dirty="0">
                <a:latin typeface="Consolas" panose="020B0609020204030204" pitchFamily="49" charset="0"/>
              </a:rPr>
              <a:t>op </a:t>
            </a:r>
            <a:r>
              <a:rPr lang="zh-CN" altLang="en-US" dirty="0">
                <a:latin typeface="Consolas" panose="020B0609020204030204" pitchFamily="49" charset="0"/>
              </a:rPr>
              <a:t>节点任务后，</a:t>
            </a:r>
            <a:r>
              <a:rPr lang="en-US" altLang="zh-CN" dirty="0">
                <a:latin typeface="Consolas" panose="020B0609020204030204" pitchFamily="49" charset="0"/>
              </a:rPr>
              <a:t> [OPT] </a:t>
            </a:r>
            <a:r>
              <a:rPr lang="zh-CN" altLang="en-US" dirty="0">
                <a:latin typeface="Consolas" panose="020B0609020204030204" pitchFamily="49" charset="0"/>
              </a:rPr>
              <a:t>马上给其分配了新的任务。由于该任务不改变使用模型，不需要重新初始化 </a:t>
            </a:r>
            <a:r>
              <a:rPr lang="en-US" altLang="zh-CN" dirty="0" err="1">
                <a:latin typeface="Consolas" panose="020B0609020204030204" pitchFamily="49" charset="0"/>
              </a:rPr>
              <a:t>vLLM</a:t>
            </a:r>
            <a:r>
              <a:rPr lang="zh-CN" altLang="en-US" dirty="0">
                <a:latin typeface="Consolas" panose="020B0609020204030204" pitchFamily="49" charset="0"/>
              </a:rPr>
              <a:t>，所以 </a:t>
            </a:r>
            <a:r>
              <a:rPr lang="en-US" altLang="zh-CN" dirty="0">
                <a:latin typeface="Consolas" panose="020B0609020204030204" pitchFamily="49" charset="0"/>
              </a:rPr>
              <a:t>Worker 4 </a:t>
            </a:r>
            <a:r>
              <a:rPr lang="zh-CN" altLang="en-US" dirty="0">
                <a:latin typeface="Consolas" panose="020B0609020204030204" pitchFamily="49" charset="0"/>
              </a:rPr>
              <a:t>在 </a:t>
            </a:r>
            <a:r>
              <a:rPr lang="en-US" altLang="zh-CN" dirty="0">
                <a:latin typeface="Consolas" panose="020B0609020204030204" pitchFamily="49" charset="0"/>
              </a:rPr>
              <a:t>0.370s </a:t>
            </a:r>
            <a:r>
              <a:rPr lang="zh-CN" altLang="en-US" dirty="0">
                <a:latin typeface="Consolas" panose="020B0609020204030204" pitchFamily="49" charset="0"/>
              </a:rPr>
              <a:t>后就完成了执行，并返回了结果给 </a:t>
            </a:r>
            <a:r>
              <a:rPr lang="en-US" altLang="zh-CN" dirty="0">
                <a:latin typeface="Consolas" panose="020B0609020204030204" pitchFamily="49" charset="0"/>
              </a:rPr>
              <a:t>[OPT] 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不同 </a:t>
            </a:r>
            <a:r>
              <a:rPr lang="en-US" altLang="zh-CN" dirty="0">
                <a:latin typeface="Consolas" panose="020B0609020204030204" pitchFamily="49" charset="0"/>
              </a:rPr>
              <a:t>Worker </a:t>
            </a:r>
            <a:r>
              <a:rPr lang="zh-CN" altLang="en-US" dirty="0">
                <a:latin typeface="Consolas" panose="020B0609020204030204" pitchFamily="49" charset="0"/>
              </a:rPr>
              <a:t>初始化、运行每个任务的时间都不同。现阶段，</a:t>
            </a:r>
            <a:r>
              <a:rPr lang="en-US" altLang="zh-CN" dirty="0">
                <a:latin typeface="Consolas" panose="020B0609020204030204" pitchFamily="49" charset="0"/>
              </a:rPr>
              <a:t>[OPT] </a:t>
            </a:r>
            <a:r>
              <a:rPr lang="zh-CN" altLang="en-US" dirty="0">
                <a:latin typeface="Consolas" panose="020B0609020204030204" pitchFamily="49" charset="0"/>
              </a:rPr>
              <a:t>会根据任务情况以及每个 </a:t>
            </a:r>
            <a:r>
              <a:rPr lang="en-US" altLang="zh-CN" dirty="0">
                <a:latin typeface="Consolas" panose="020B0609020204030204" pitchFamily="49" charset="0"/>
              </a:rPr>
              <a:t>Worker </a:t>
            </a:r>
            <a:r>
              <a:rPr lang="zh-CN" altLang="en-US" dirty="0">
                <a:latin typeface="Consolas" panose="020B0609020204030204" pitchFamily="49" charset="0"/>
              </a:rPr>
              <a:t>的空闲情况，较为基础的直接分配最前任务给最空 </a:t>
            </a:r>
            <a:r>
              <a:rPr lang="en-US" altLang="zh-CN" dirty="0">
                <a:latin typeface="Consolas" panose="020B0609020204030204" pitchFamily="49" charset="0"/>
              </a:rPr>
              <a:t>Worker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5C19D9-B8B3-2F94-2895-816A4AE74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4" y="1267033"/>
            <a:ext cx="6886264" cy="21619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5C9C355-519F-2878-47F6-4C99B6F87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28" y="719445"/>
            <a:ext cx="3882123" cy="4543851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FB20247-7785-340F-2FE1-95502BEB8726}"/>
              </a:ext>
            </a:extLst>
          </p:cNvPr>
          <p:cNvCxnSpPr>
            <a:cxnSpLocks/>
          </p:cNvCxnSpPr>
          <p:nvPr/>
        </p:nvCxnSpPr>
        <p:spPr>
          <a:xfrm>
            <a:off x="7130902" y="646651"/>
            <a:ext cx="0" cy="6211349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F9A1DDE-0DC9-153A-A11C-D7A69441B87B}"/>
              </a:ext>
            </a:extLst>
          </p:cNvPr>
          <p:cNvCxnSpPr>
            <a:cxnSpLocks/>
          </p:cNvCxnSpPr>
          <p:nvPr/>
        </p:nvCxnSpPr>
        <p:spPr>
          <a:xfrm>
            <a:off x="0" y="646651"/>
            <a:ext cx="12192000" cy="0"/>
          </a:xfrm>
          <a:prstGeom prst="line">
            <a:avLst/>
          </a:prstGeom>
          <a:ln w="190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44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449D-4398-6767-849B-51C407C3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326D07-8212-505C-793A-7A0995916F33}"/>
              </a:ext>
            </a:extLst>
          </p:cNvPr>
          <p:cNvSpPr txBox="1"/>
          <p:nvPr/>
        </p:nvSpPr>
        <p:spPr>
          <a:xfrm>
            <a:off x="0" y="0"/>
            <a:ext cx="2378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性能对比</a:t>
            </a:r>
            <a:endParaRPr lang="en-US" altLang="zh-CN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D1755A-0D79-C684-7149-CBE93D5E16AC}"/>
              </a:ext>
            </a:extLst>
          </p:cNvPr>
          <p:cNvSpPr txBox="1"/>
          <p:nvPr/>
        </p:nvSpPr>
        <p:spPr>
          <a:xfrm>
            <a:off x="0" y="646651"/>
            <a:ext cx="6462150" cy="59093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我们以 </a:t>
            </a:r>
            <a:r>
              <a:rPr lang="en-US" altLang="zh-CN" dirty="0">
                <a:latin typeface="Consolas" panose="020B0609020204030204" pitchFamily="49" charset="0"/>
              </a:rPr>
              <a:t>GSM8K </a:t>
            </a:r>
            <a:r>
              <a:rPr lang="zh-CN" altLang="en-US" dirty="0">
                <a:latin typeface="Consolas" panose="020B0609020204030204" pitchFamily="49" charset="0"/>
              </a:rPr>
              <a:t>前 </a:t>
            </a:r>
            <a:r>
              <a:rPr lang="en-US" altLang="zh-CN" dirty="0">
                <a:latin typeface="Consolas" panose="020B0609020204030204" pitchFamily="49" charset="0"/>
              </a:rPr>
              <a:t>100 </a:t>
            </a:r>
            <a:r>
              <a:rPr lang="zh-CN" altLang="en-US" dirty="0">
                <a:latin typeface="Consolas" panose="020B0609020204030204" pitchFamily="49" charset="0"/>
              </a:rPr>
              <a:t>问作为对比测试集，在相同模型与工作流配置下对比评估基线（串行运行）与 </a:t>
            </a:r>
            <a:r>
              <a:rPr lang="en-US" altLang="zh-CN" dirty="0">
                <a:latin typeface="Consolas" panose="020B0609020204030204" pitchFamily="49" charset="0"/>
              </a:rPr>
              <a:t>MFE </a:t>
            </a:r>
            <a:r>
              <a:rPr lang="zh-CN" altLang="en-US" dirty="0">
                <a:latin typeface="Consolas" panose="020B0609020204030204" pitchFamily="49" charset="0"/>
              </a:rPr>
              <a:t>的性能。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我们每个 </a:t>
            </a:r>
            <a:r>
              <a:rPr lang="en-US" altLang="zh-CN" dirty="0">
                <a:latin typeface="Consolas" panose="020B0609020204030204" pitchFamily="49" charset="0"/>
              </a:rPr>
              <a:t>op </a:t>
            </a:r>
            <a:r>
              <a:rPr lang="zh-CN" altLang="en-US" dirty="0">
                <a:latin typeface="Consolas" panose="020B0609020204030204" pitchFamily="49" charset="0"/>
              </a:rPr>
              <a:t>节点都使用 </a:t>
            </a:r>
            <a:r>
              <a:rPr lang="en-US" altLang="zh-CN" dirty="0">
                <a:latin typeface="Consolas" panose="020B0609020204030204" pitchFamily="49" charset="0"/>
              </a:rPr>
              <a:t>Llama-3.1-8B-Instruct </a:t>
            </a:r>
            <a:r>
              <a:rPr lang="zh-CN" altLang="en-US" dirty="0">
                <a:latin typeface="Consolas" panose="020B0609020204030204" pitchFamily="49" charset="0"/>
              </a:rPr>
              <a:t>模型，并采用 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步思考（</a:t>
            </a:r>
            <a:r>
              <a:rPr lang="en-US" altLang="zh-CN" dirty="0">
                <a:latin typeface="Consolas" panose="020B0609020204030204" pitchFamily="49" charset="0"/>
              </a:rPr>
              <a:t>adv_reason_3</a:t>
            </a:r>
            <a:r>
              <a:rPr lang="zh-CN" altLang="en-US" dirty="0">
                <a:latin typeface="Consolas" panose="020B0609020204030204" pitchFamily="49" charset="0"/>
              </a:rPr>
              <a:t>）、投票（</a:t>
            </a:r>
            <a:r>
              <a:rPr lang="en-US" altLang="zh-CN" dirty="0">
                <a:latin typeface="Consolas" panose="020B0609020204030204" pitchFamily="49" charset="0"/>
              </a:rPr>
              <a:t>multi_voting_4</a:t>
            </a:r>
            <a:r>
              <a:rPr lang="zh-CN" altLang="en-US" dirty="0">
                <a:latin typeface="Consolas" panose="020B0609020204030204" pitchFamily="49" charset="0"/>
              </a:rPr>
              <a:t>） 两种工作流配置（见右上）来测试两种方案。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我们统计了两种方案的完成总时间、吞吐量（每秒完成请求数，</a:t>
            </a:r>
            <a:r>
              <a:rPr lang="en-US" altLang="zh-CN" dirty="0">
                <a:latin typeface="Consolas" panose="020B0609020204030204" pitchFamily="49" charset="0"/>
              </a:rPr>
              <a:t>req/s</a:t>
            </a:r>
            <a:r>
              <a:rPr lang="zh-CN" altLang="en-US" dirty="0">
                <a:latin typeface="Consolas" panose="020B0609020204030204" pitchFamily="49" charset="0"/>
              </a:rPr>
              <a:t>）。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可以看到，</a:t>
            </a:r>
            <a:r>
              <a:rPr lang="en-US" altLang="zh-CN" dirty="0">
                <a:latin typeface="Consolas" panose="020B0609020204030204" pitchFamily="49" charset="0"/>
              </a:rPr>
              <a:t>MFE </a:t>
            </a:r>
            <a:r>
              <a:rPr lang="zh-CN" altLang="en-US" dirty="0">
                <a:latin typeface="Consolas" panose="020B0609020204030204" pitchFamily="49" charset="0"/>
              </a:rPr>
              <a:t>相对基线：</a:t>
            </a:r>
            <a:r>
              <a:rPr lang="en-US" altLang="zh-CN" dirty="0">
                <a:latin typeface="Consolas" panose="020B0609020204030204" pitchFamily="49" charset="0"/>
              </a:rPr>
              <a:t>3 </a:t>
            </a:r>
            <a:r>
              <a:rPr lang="zh-CN" altLang="en-US" dirty="0">
                <a:latin typeface="Consolas" panose="020B0609020204030204" pitchFamily="49" charset="0"/>
              </a:rPr>
              <a:t>步思考完成总时间约降低 </a:t>
            </a:r>
            <a:r>
              <a:rPr lang="en-US" altLang="zh-CN" dirty="0">
                <a:latin typeface="Consolas" panose="020B0609020204030204" pitchFamily="49" charset="0"/>
              </a:rPr>
              <a:t>80%</a:t>
            </a:r>
            <a:r>
              <a:rPr lang="zh-CN" altLang="en-US" dirty="0">
                <a:latin typeface="Consolas" panose="020B0609020204030204" pitchFamily="49" charset="0"/>
              </a:rPr>
              <a:t>，吞吐量约提升 </a:t>
            </a:r>
            <a:r>
              <a:rPr lang="en-US" altLang="zh-CN" dirty="0">
                <a:latin typeface="Consolas" panose="020B0609020204030204" pitchFamily="49" charset="0"/>
              </a:rPr>
              <a:t>400%</a:t>
            </a:r>
            <a:r>
              <a:rPr lang="zh-CN" altLang="en-US" dirty="0">
                <a:latin typeface="Consolas" panose="020B0609020204030204" pitchFamily="49" charset="0"/>
              </a:rPr>
              <a:t>；投票完成总时间约降低 </a:t>
            </a:r>
            <a:r>
              <a:rPr lang="en-US" altLang="zh-CN" dirty="0">
                <a:latin typeface="Consolas" panose="020B0609020204030204" pitchFamily="49" charset="0"/>
              </a:rPr>
              <a:t>65%</a:t>
            </a:r>
            <a:r>
              <a:rPr lang="zh-CN" altLang="en-US" dirty="0">
                <a:latin typeface="Consolas" panose="020B0609020204030204" pitchFamily="49" charset="0"/>
              </a:rPr>
              <a:t>，吞吐量约提升 </a:t>
            </a:r>
            <a:r>
              <a:rPr lang="en-US" altLang="zh-CN" dirty="0">
                <a:latin typeface="Consolas" panose="020B0609020204030204" pitchFamily="49" charset="0"/>
              </a:rPr>
              <a:t>187%</a:t>
            </a:r>
            <a:r>
              <a:rPr lang="zh-CN" altLang="en-US" dirty="0">
                <a:latin typeface="Consolas" panose="020B0609020204030204" pitchFamily="49" charset="0"/>
              </a:rPr>
              <a:t>，整体表现较好。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我们还统计了各 </a:t>
            </a:r>
            <a:r>
              <a:rPr lang="en-US" altLang="zh-CN" dirty="0">
                <a:latin typeface="Consolas" panose="020B0609020204030204" pitchFamily="49" charset="0"/>
              </a:rPr>
              <a:t>GPU </a:t>
            </a:r>
            <a:r>
              <a:rPr lang="zh-CN" altLang="en-US" dirty="0">
                <a:latin typeface="Consolas" panose="020B0609020204030204" pitchFamily="49" charset="0"/>
              </a:rPr>
              <a:t>利用率。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可以看到，</a:t>
            </a:r>
            <a:r>
              <a:rPr lang="en-US" altLang="zh-CN" dirty="0">
                <a:latin typeface="Consolas" panose="020B0609020204030204" pitchFamily="49" charset="0"/>
              </a:rPr>
              <a:t>MFE </a:t>
            </a:r>
            <a:r>
              <a:rPr lang="zh-CN" altLang="en-US" dirty="0">
                <a:latin typeface="Consolas" panose="020B0609020204030204" pitchFamily="49" charset="0"/>
              </a:rPr>
              <a:t>相对基线能更均衡地使用各 </a:t>
            </a:r>
            <a:r>
              <a:rPr lang="en-US" altLang="zh-CN" dirty="0">
                <a:latin typeface="Consolas" panose="020B0609020204030204" pitchFamily="49" charset="0"/>
              </a:rPr>
              <a:t>GPU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r>
              <a:rPr lang="en-US" altLang="zh-CN" dirty="0">
                <a:latin typeface="Consolas" panose="020B0609020204030204" pitchFamily="49" charset="0"/>
              </a:rPr>
              <a:t>3 </a:t>
            </a:r>
            <a:r>
              <a:rPr lang="zh-CN" altLang="en-US" dirty="0">
                <a:latin typeface="Consolas" panose="020B0609020204030204" pitchFamily="49" charset="0"/>
              </a:rPr>
              <a:t>步思考总利用率约由 </a:t>
            </a:r>
            <a:r>
              <a:rPr lang="en-US" altLang="zh-CN" dirty="0">
                <a:latin typeface="Consolas" panose="020B0609020204030204" pitchFamily="49" charset="0"/>
              </a:rPr>
              <a:t>11.8% </a:t>
            </a:r>
            <a:r>
              <a:rPr lang="zh-CN" altLang="en-US" dirty="0">
                <a:latin typeface="Consolas" panose="020B0609020204030204" pitchFamily="49" charset="0"/>
              </a:rPr>
              <a:t>提升至 </a:t>
            </a:r>
            <a:r>
              <a:rPr lang="en-US" altLang="zh-CN" dirty="0">
                <a:latin typeface="Consolas" panose="020B0609020204030204" pitchFamily="49" charset="0"/>
              </a:rPr>
              <a:t>57.2%</a:t>
            </a:r>
            <a:r>
              <a:rPr lang="zh-CN" altLang="en-US" dirty="0">
                <a:latin typeface="Consolas" panose="020B0609020204030204" pitchFamily="49" charset="0"/>
              </a:rPr>
              <a:t>；投票约由 </a:t>
            </a:r>
            <a:r>
              <a:rPr lang="en-US" altLang="zh-CN" dirty="0">
                <a:latin typeface="Consolas" panose="020B0609020204030204" pitchFamily="49" charset="0"/>
              </a:rPr>
              <a:t>23.6% </a:t>
            </a:r>
            <a:r>
              <a:rPr lang="zh-CN" altLang="en-US" dirty="0">
                <a:latin typeface="Consolas" panose="020B0609020204030204" pitchFamily="49" charset="0"/>
              </a:rPr>
              <a:t>提升至 </a:t>
            </a:r>
            <a:r>
              <a:rPr lang="en-US" altLang="zh-CN" dirty="0">
                <a:latin typeface="Consolas" panose="020B0609020204030204" pitchFamily="49" charset="0"/>
              </a:rPr>
              <a:t>65.6%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onsolas" panose="020B0609020204030204" pitchFamily="49" charset="0"/>
              </a:rPr>
              <a:t>从上面可以看出，</a:t>
            </a:r>
            <a:r>
              <a:rPr lang="en-US" altLang="zh-CN" dirty="0">
                <a:latin typeface="Consolas" panose="020B0609020204030204" pitchFamily="49" charset="0"/>
              </a:rPr>
              <a:t>MFE </a:t>
            </a:r>
            <a:r>
              <a:rPr lang="zh-CN" altLang="en-US" dirty="0">
                <a:latin typeface="Consolas" panose="020B0609020204030204" pitchFamily="49" charset="0"/>
              </a:rPr>
              <a:t>系统在批量场景下能显著提高吞吐、缩短总完成时间，并提升多卡资源利用，更适合作为多请求、多 </a:t>
            </a:r>
            <a:r>
              <a:rPr lang="en-US" altLang="zh-CN" dirty="0">
                <a:latin typeface="Consolas" panose="020B0609020204030204" pitchFamily="49" charset="0"/>
              </a:rPr>
              <a:t>GPU </a:t>
            </a:r>
            <a:r>
              <a:rPr lang="zh-CN" altLang="en-US" dirty="0">
                <a:latin typeface="Consolas" panose="020B0609020204030204" pitchFamily="49" charset="0"/>
              </a:rPr>
              <a:t>下的推理编排原型。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4F46A64-DD52-8D60-99FC-2B6CA0DC3C64}"/>
              </a:ext>
            </a:extLst>
          </p:cNvPr>
          <p:cNvCxnSpPr>
            <a:cxnSpLocks/>
          </p:cNvCxnSpPr>
          <p:nvPr/>
        </p:nvCxnSpPr>
        <p:spPr>
          <a:xfrm>
            <a:off x="0" y="646651"/>
            <a:ext cx="12192000" cy="0"/>
          </a:xfrm>
          <a:prstGeom prst="line">
            <a:avLst/>
          </a:prstGeom>
          <a:ln w="190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474385DF-CC41-DED3-B4F1-9DD558D22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03" y="2469213"/>
            <a:ext cx="2193797" cy="191957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46B7167-DC53-3091-2859-00F6B00AF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787" y="2433773"/>
            <a:ext cx="2321515" cy="203132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E6FA5A-A70F-D745-712C-477E08FFB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150" y="1090587"/>
            <a:ext cx="3471400" cy="54708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4427D68-A724-4553-4251-37EDB529F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045" y="772241"/>
            <a:ext cx="1896918" cy="114573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CD09929-8A73-E1FD-D7FB-08E9AF2254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150" y="4541410"/>
            <a:ext cx="2142549" cy="16069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59D9236-D8E6-5537-B39D-9E2C3A534D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277" y="4544514"/>
            <a:ext cx="1831273" cy="154953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3C692A5-D117-1743-871D-C2648B8B0A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727" y="4570096"/>
            <a:ext cx="1831273" cy="1549539"/>
          </a:xfrm>
          <a:prstGeom prst="rect">
            <a:avLst/>
          </a:prstGeom>
        </p:spPr>
      </p:pic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5A8F5B4-8017-2689-A85D-450950734CC3}"/>
              </a:ext>
            </a:extLst>
          </p:cNvPr>
          <p:cNvCxnSpPr>
            <a:cxnSpLocks/>
          </p:cNvCxnSpPr>
          <p:nvPr/>
        </p:nvCxnSpPr>
        <p:spPr>
          <a:xfrm>
            <a:off x="0" y="2392901"/>
            <a:ext cx="12192000" cy="0"/>
          </a:xfrm>
          <a:prstGeom prst="line">
            <a:avLst/>
          </a:prstGeom>
          <a:ln w="190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07765DD-B5F9-AE98-3AB4-B26D4DA16C5E}"/>
              </a:ext>
            </a:extLst>
          </p:cNvPr>
          <p:cNvCxnSpPr>
            <a:cxnSpLocks/>
          </p:cNvCxnSpPr>
          <p:nvPr/>
        </p:nvCxnSpPr>
        <p:spPr>
          <a:xfrm>
            <a:off x="44450" y="4387737"/>
            <a:ext cx="12192000" cy="0"/>
          </a:xfrm>
          <a:prstGeom prst="line">
            <a:avLst/>
          </a:prstGeom>
          <a:ln w="190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FD6BA1F-F6AA-40D0-2FD5-11DD45E40DB9}"/>
              </a:ext>
            </a:extLst>
          </p:cNvPr>
          <p:cNvSpPr txBox="1"/>
          <p:nvPr/>
        </p:nvSpPr>
        <p:spPr>
          <a:xfrm>
            <a:off x="7693551" y="1985262"/>
            <a:ext cx="43114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步思考                  投票 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14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898</Words>
  <Application>Microsoft Office PowerPoint</Application>
  <PresentationFormat>宽屏</PresentationFormat>
  <Paragraphs>70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Hanyang Li</dc:creator>
  <cp:lastModifiedBy>Hanyang Li</cp:lastModifiedBy>
  <cp:revision>41</cp:revision>
  <dcterms:created xsi:type="dcterms:W3CDTF">2026-03-14T13:02:19Z</dcterms:created>
  <dcterms:modified xsi:type="dcterms:W3CDTF">2026-03-31T19:28:33Z</dcterms:modified>
</cp:coreProperties>
</file>