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4" r:id="rId4"/>
    <p:sldMasterId id="2147483656" r:id="rId5"/>
  </p:sldMasterIdLst>
  <p:notesMasterIdLst>
    <p:notesMasterId r:id="rId9"/>
  </p:notesMasterIdLst>
  <p:handoutMasterIdLst>
    <p:handoutMasterId r:id="rId10"/>
  </p:handoutMasterIdLst>
  <p:sldIdLst>
    <p:sldId id="330" r:id="rId6"/>
    <p:sldId id="331" r:id="rId7"/>
    <p:sldId id="333" r:id="rId8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738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ngjing (P)" initials="P(" lastIdx="7" clrIdx="0"/>
  <p:cmAuthor id="2" name="zhangzijiao (A)" initials="z(" lastIdx="1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A"/>
    <a:srgbClr val="B04046"/>
    <a:srgbClr val="0000FF"/>
    <a:srgbClr val="3333FF"/>
    <a:srgbClr val="FFFF00"/>
    <a:srgbClr val="000000"/>
    <a:srgbClr val="00B050"/>
    <a:srgbClr val="FFFFFF"/>
    <a:srgbClr val="3366FF"/>
    <a:srgbClr val="E90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6291"/>
  </p:normalViewPr>
  <p:slideViewPr>
    <p:cSldViewPr snapToGrid="0" snapToObjects="1" showGuides="1">
      <p:cViewPr varScale="1">
        <p:scale>
          <a:sx n="108" d="100"/>
          <a:sy n="108" d="100"/>
        </p:scale>
        <p:origin x="78" y="102"/>
      </p:cViewPr>
      <p:guideLst>
        <p:guide pos="3738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93047" y="6219307"/>
            <a:ext cx="2626428" cy="322753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Security Level: HW Confidential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tiff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900" b="0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861" y="2797516"/>
            <a:ext cx="3079438" cy="231457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18974" y="701395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场景洞察：</a:t>
            </a:r>
            <a:r>
              <a:rPr lang="en-US" altLang="zh-CN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应用使推理系统从“计算瓶颈”转向“系统级瓶颈”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4074" y="1025395"/>
            <a:ext cx="5695144" cy="162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应用引入长上下文、多轮推理与工具调用，推理过程不再是单次生成，而是包含“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kumimoji="1" lang="en-US" altLang="zh-CN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I/O + KV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管理”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的复杂流程。在实际系统中表现为：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规模持续增长，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占用显著增加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工具调用带来异步 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等待，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出现调度空洞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在显存占用与重载延迟之间形成两难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kumimoji="1" lang="zh-CN" altLang="en-US" sz="13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 ：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性能压力从“模型推理慢”转向“等待时间 </a:t>
            </a:r>
            <a:r>
              <a:rPr kumimoji="1" lang="en-US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KV 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开销”</a:t>
            </a:r>
            <a:endParaRPr kumimoji="1"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182644" y="701395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优化趋势洞察：从“静态 </a:t>
            </a:r>
            <a:r>
              <a:rPr lang="en-US" altLang="zh-CN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serving”</a:t>
            </a: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走向“工作流感知调度”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8974" y="2635516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结构洞察：多 </a:t>
            </a:r>
            <a:r>
              <a:rPr lang="en-US" altLang="zh-CN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工作流呈现“动态 </a:t>
            </a:r>
            <a:r>
              <a:rPr lang="en-US" altLang="zh-CN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DAG + </a:t>
            </a: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隐式依赖”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2956" y="3005727"/>
            <a:ext cx="5617380" cy="2033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应用的执行过程通常由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</a:t>
            </a:r>
            <a:r>
              <a:rPr kumimoji="1" lang="en-US" altLang="zh-CN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调用与工具调用组成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，并形成动态演化的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</a:t>
            </a:r>
            <a:r>
              <a:rPr kumimoji="1" lang="en-US" altLang="zh-CN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DAG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。不同 </a:t>
            </a:r>
            <a:r>
              <a:rPr kumimoji="1"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或步骤之间既存在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严格依赖关系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，也包含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大量可并行执行的任务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，但这些依赖关系在当前系统中往往不可见，导致调度器难以识别关键路径和并行机会。我们需要：</a:t>
            </a:r>
            <a:endParaRPr kumimoji="1"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执行流程进行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工作流建模</a:t>
            </a:r>
            <a:endParaRPr kumimoji="1" lang="zh-CN" altLang="en-US" sz="1200" b="1" dirty="0">
              <a:solidFill>
                <a:srgbClr val="B040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显式刻画任务依赖关系与并行结构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为后续调度优化提供结构化信息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kumimoji="1" lang="zh-CN" altLang="en-US" sz="13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 ：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调度系统缺少工作流语义感知，导致资源浪费与关键路径膨胀</a:t>
            </a:r>
            <a:endParaRPr kumimoji="1"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92446" y="1046054"/>
            <a:ext cx="5617380" cy="1802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 </a:t>
            </a:r>
            <a:r>
              <a:rPr kumimoji="1"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serving 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系统通常以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单请求为粒度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处理推理任务。这类静态策略忽视了 </a:t>
            </a:r>
            <a:r>
              <a:rPr kumimoji="1"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工作流中的跨步骤依赖关系、内存使用特征以及端到端延迟目标，难以实现整体性能优化。我们需要：</a:t>
            </a:r>
            <a:endParaRPr kumimoji="1"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 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workflow-aware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调度机制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基于依赖关系进行请求调度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batching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与资源感知提升端到端性能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kumimoji="1" lang="zh-CN" altLang="en-US" sz="13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 ：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未来调度优化必须“依赖感知 </a:t>
            </a:r>
            <a:r>
              <a:rPr kumimoji="1" lang="en-US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KV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 </a:t>
            </a:r>
            <a:r>
              <a:rPr kumimoji="1" lang="en-US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kumimoji="1"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在线自适应”</a:t>
            </a:r>
            <a:endParaRPr kumimoji="1"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92446" y="5124394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46931" y="5527141"/>
            <a:ext cx="5617380" cy="99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应用使推理任务从单次调用演变为多步骤工作流执行。动态 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DAG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结构和隐式依赖关系使传统静态 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serving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难以有效调度请求。因此，需要</a:t>
            </a:r>
            <a:r>
              <a:rPr kumimoji="1" lang="zh-CN" altLang="en-US" sz="1200" b="1" dirty="0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构建工作流感知的调度机制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，通过依赖关系感知与请求 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batching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优化系统资源利用率和端到端执行效率</a:t>
            </a: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26" y="5012064"/>
            <a:ext cx="3600193" cy="1798254"/>
          </a:xfrm>
          <a:prstGeom prst="rect">
            <a:avLst/>
          </a:prstGeom>
        </p:spPr>
      </p:pic>
      <p:sp>
        <p:nvSpPr>
          <p:cNvPr id="11" name="标题 1"/>
          <p:cNvSpPr txBox="1"/>
          <p:nvPr/>
        </p:nvSpPr>
        <p:spPr bwMode="auto">
          <a:xfrm>
            <a:off x="209323" y="115433"/>
            <a:ext cx="7935609" cy="464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397" tIns="47698" rIns="95397" bIns="47698" numCol="1" anchor="ctr" anchorCtr="0" compatLnSpc="1">
            <a:spAutoFit/>
          </a:bodyPr>
          <a:lstStyle>
            <a:lvl1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2pPr>
            <a:lvl3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3pPr>
            <a:lvl4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4pPr>
            <a:lvl5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5pPr>
            <a:lvl6pPr marL="408305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6pPr>
            <a:lvl7pPr marL="816610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7pPr>
            <a:lvl8pPr marL="1224915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8pPr>
            <a:lvl9pPr marL="1633220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Agent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请求调度优化技术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3767" y="2990867"/>
            <a:ext cx="2665531" cy="1701064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48666" y="3051263"/>
            <a:ext cx="2515759" cy="1175581"/>
            <a:chOff x="1726422" y="2698002"/>
            <a:chExt cx="2598722" cy="125979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6422" y="2698002"/>
              <a:ext cx="2598722" cy="125979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1988843" y="3011734"/>
              <a:ext cx="1351140" cy="2414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kumimoji="1" lang="zh-CN" altLang="en-US" sz="1200" b="1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552292" y="2756727"/>
              <a:ext cx="763105" cy="1064465"/>
            </a:xfrm>
            <a:prstGeom prst="rect">
              <a:avLst/>
            </a:prstGeom>
            <a:noFill/>
            <a:ln w="38100">
              <a:solidFill>
                <a:srgbClr val="C7000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标题 1"/>
          <p:cNvSpPr txBox="1"/>
          <p:nvPr/>
        </p:nvSpPr>
        <p:spPr bwMode="auto">
          <a:xfrm>
            <a:off x="209323" y="114696"/>
            <a:ext cx="7935609" cy="4656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397" tIns="47698" rIns="95397" bIns="47698" numCol="1" anchor="ctr" anchorCtr="0" compatLnSpc="1">
            <a:spAutoFit/>
          </a:bodyPr>
          <a:lstStyle>
            <a:lvl1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2pPr>
            <a:lvl3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3pPr>
            <a:lvl4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4pPr>
            <a:lvl5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5pPr>
            <a:lvl6pPr marL="408305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6pPr>
            <a:lvl7pPr marL="816610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7pPr>
            <a:lvl8pPr marL="1224915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8pPr>
            <a:lvl9pPr marL="1633220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9pPr>
          </a:lstStyle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：基于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工作流的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访存加速技术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8974" y="649144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洞察：传统 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策略在 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场景容易失效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7605" y="952336"/>
            <a:ext cx="5809006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多轮</a:t>
            </a:r>
            <a:r>
              <a:rPr kumimoji="1" lang="en-US" altLang="zh-CN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 </a:t>
            </a:r>
            <a:r>
              <a:rPr kumimoji="1" lang="en-US" altLang="zh-CN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 </a:t>
            </a:r>
            <a:r>
              <a:rPr kumimoji="1" lang="en-US" altLang="zh-CN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随请求链路累积</a:t>
            </a:r>
            <a:endParaRPr kumimoji="1" lang="en-US" altLang="zh-CN" sz="1200" b="1">
              <a:solidFill>
                <a:srgbClr val="B040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显存压力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+ H2D/D2H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搬运成为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E2E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延迟放大器（长序列下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swap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开销不可忽略）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“一视同仁”的缓存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卸载会误伤关键路径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非关键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占满显存 → 关键路径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被挤掉，被迫重算，上升为端到端尾延迟问题。见下左图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调研视角下，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优化大方向可归为两类：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(a) 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提高利用效率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（去冗余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提复用）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+ (b) 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优化调度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（卸载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换入与传算掩盖）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但多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场景必须额外引入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工作流特征与关键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保障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705" lvl="1">
              <a:spcAft>
                <a:spcPts val="200"/>
              </a:spcAft>
            </a:pP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 ：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须按工作流保障关键路径，否则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累积与换入换出会放大尾延迟</a:t>
            </a: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8134" y="4700482"/>
            <a:ext cx="5661164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趋势洞察：从 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Token/Layer 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升级为 关键 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Agent/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关键路径”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61962" y="654366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机会洞察：工具调用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等待期 ≈ 可预测的 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闲置窗口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82644" y="5318140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8381" y="5594750"/>
            <a:ext cx="5617380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Workflow-aware KV Manager =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工作流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DAG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识别（谁关键）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时间调度（何时换）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空间配额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保护（给谁留）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跨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传算掩盖（怎么藏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3168" y="4996560"/>
            <a:ext cx="5809006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工作流里，决定体验的不是“平均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命中率”，而是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关键路径上的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是否稳定在位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（否则直接触发重算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+ HOL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阻塞）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144145">
              <a:lnSpc>
                <a:spcPct val="95000"/>
              </a:lnSpc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用工作流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DAG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做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分级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lnSpc>
                <a:spcPct val="95000"/>
              </a:lnSpc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按 并行度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× SLO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严格度对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重要性打分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串行链路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强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SLO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强保护（尽量常驻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优先换入）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lnSpc>
                <a:spcPct val="95000"/>
              </a:lnSpc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高度并行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局部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SLO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较松的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可让渡（允许换出）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705" lvl="1">
              <a:lnSpc>
                <a:spcPct val="95000"/>
              </a:lnSpc>
              <a:spcAft>
                <a:spcPts val="200"/>
              </a:spcAft>
            </a:pP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 ：把有限 的</a:t>
            </a:r>
            <a:r>
              <a:rPr kumimoji="1" lang="en-US" altLang="zh-CN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HBM 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留给“决定 </a:t>
            </a:r>
            <a:r>
              <a:rPr kumimoji="1" lang="en-US" altLang="zh-CN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E2E 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尾延迟”的 </a:t>
            </a:r>
            <a:r>
              <a:rPr kumimoji="1" lang="en-US" altLang="zh-CN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，而不是先到先得</a:t>
            </a: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912174" y="996798"/>
            <a:ext cx="6010026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常见模式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推理 → 函数调用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IO → LLM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函数调用阶段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长时间闲置，留在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浪费，丢掉又会高代价重算</a:t>
            </a:r>
            <a:endParaRPr kumimoji="1"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如何落实机制：与趋势洞察闭环，知道谁关键后，决定何时搬</a:t>
            </a:r>
            <a:endParaRPr kumimoji="1"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用时间调度器预测函数调用耗时，决定是否换出闲置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，并在恢复前提前 回传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预取，保证无缝续跑</a:t>
            </a:r>
            <a:endParaRPr kumimoji="1"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外部证据：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Tokencake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用“时间调度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关键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保护”在高负载下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E2E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延迟较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vLLM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下降约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47%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，说明“主动利用闲置期”对尾延迟很敏感，是关键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705" lvl="1">
              <a:spcAft>
                <a:spcPts val="200"/>
              </a:spcAft>
            </a:pP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 ：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可利用工具调用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等待期预测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闲置窗口，适合“主动换出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预取”</a:t>
            </a: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52956" y="4161873"/>
            <a:ext cx="2972184" cy="481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（左）：在长序列下，换入开销无法忽视</a:t>
            </a:r>
            <a:endParaRPr kumimoji="1" lang="en-US" altLang="zh-CN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（右）：</a:t>
            </a:r>
            <a:r>
              <a:rPr kumimoji="1"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Tokencake </a:t>
            </a:r>
            <a:r>
              <a:rPr kumimoji="1"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概览图（时空调度）</a:t>
            </a:r>
            <a:endParaRPr kumimoji="1"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182644" y="2808965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方法论洞察：从“请求内优化”到“工作流级编排”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946156" y="3143764"/>
            <a:ext cx="6010026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多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依赖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并发让“只做请求内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overlap”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的收益被依赖阻塞吞噬；真正有效的是把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DDR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HBM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的搬运插到 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非关键</a:t>
            </a:r>
            <a:r>
              <a:rPr kumimoji="1" lang="en-US" altLang="zh-CN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并行阶段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，让关键路径尽量不等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常见模式是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推理 → 函数调用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IO → LLM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推理；函数调用阶段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长时间闲置，留在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浪费、丢掉又会高代价重算</a:t>
            </a:r>
            <a:endParaRPr kumimoji="1"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方法论落实机制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以工作流为单位编排：当某些 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在计算</a:t>
            </a:r>
            <a:r>
              <a:rPr kumimoji="1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等待时，后台异步完成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下游关键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的预取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换入</a:t>
            </a:r>
            <a:endParaRPr kumimoji="1"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9750" lvl="1" indent="-144145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kumimoji="1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把带宽受限操作从关键路径上挪走</a:t>
            </a:r>
            <a:endParaRPr kumimoji="1"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9705" lvl="1">
              <a:spcAft>
                <a:spcPts val="200"/>
              </a:spcAft>
            </a:pPr>
            <a:r>
              <a:rPr kumimoji="1" lang="zh-CN" altLang="en-US" sz="1200" b="1">
                <a:solidFill>
                  <a:srgbClr val="B040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 ：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的有效传算掩盖必须上升到工作流级：把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HBM 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之间的搬运塞进非关键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并行阶段，让关键路径不等 </a:t>
            </a:r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 bwMode="auto">
          <a:xfrm>
            <a:off x="209550" y="157480"/>
            <a:ext cx="8475345" cy="310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397" tIns="47698" rIns="95397" bIns="47698" numCol="1" anchor="ctr" anchorCtr="0" compatLnSpc="1">
            <a:noAutofit/>
          </a:bodyPr>
          <a:lstStyle>
            <a:lvl1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2pPr>
            <a:lvl3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3pPr>
            <a:lvl4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4pPr>
            <a:lvl5pPr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5pPr>
            <a:lvl6pPr marL="408305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6pPr>
            <a:lvl7pPr marL="816610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7pPr>
            <a:lvl8pPr marL="1224915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8pPr>
            <a:lvl9pPr marL="1633220" algn="l" defTabSz="715645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990000"/>
                </a:solidFill>
                <a:latin typeface="Arial" panose="020B0604020202020204"/>
                <a:ea typeface="黑体" panose="02010609060101010101" pitchFamily="2" charset="-122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稀疏化复用多目标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186" y="632105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场景洞察：多</a:t>
            </a:r>
            <a:r>
              <a:rPr lang="en-US" altLang="zh-CN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场景中性能压力转向</a:t>
            </a:r>
            <a:r>
              <a:rPr lang="en-US" altLang="zh-CN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KV”</a:t>
            </a:r>
            <a:endParaRPr lang="en-US" altLang="zh-CN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86096" y="632105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机会洞察：根据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的异同选择缓存与复用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endParaRPr lang="zh-CN" altLang="en-US" sz="1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86096" y="3791230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方法论洞察：以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SLO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为导向的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</a:t>
            </a:r>
            <a:endParaRPr lang="zh-CN" altLang="en-US" sz="1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86170" y="958850"/>
            <a:ext cx="5627370" cy="2599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利用多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工作流中存在的共享前缀（如共同的指令、工具调用格式），设计高效的缓存机制来复用这些前缀的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KV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状态，从而显著减少推理时间。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根据数据的访问模式和重要性，将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KV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缓存动态地放置在不同层级的存储介质上，并设计智能的迁移和预取策略，以平衡访问速度和存储容量。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86170" y="4150995"/>
            <a:ext cx="5627370" cy="1449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SLO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感知的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KV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复用率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精度量化模型，结合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任务类型定义多目标优化指标与约束。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设计层级化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SLO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拆解策略，将端到端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SLO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细化为请求级指标，匹配不同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工作流的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KV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稀疏化需求。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研发在线自适应调控算法，实时感知系统负载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任务状态，动态调整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KV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稀疏化策略与复用率。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055" y="3935095"/>
            <a:ext cx="56400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应用多场景异构 SLO 需求（低延迟 / 高精度）与 KV 缓存复用率 - 精度天然冲突，现有策略缺乏 SLO 感知能力，导致资源错配、端到端体验受损，且多目标权衡需在线自适应，成为规模化落地核心瓶颈。</a:t>
            </a:r>
            <a:endParaRPr lang="zh-CN" altLang="en-US" sz="1600"/>
          </a:p>
        </p:txBody>
      </p:sp>
      <p:sp>
        <p:nvSpPr>
          <p:cNvPr id="14" name="矩形 13"/>
          <p:cNvSpPr/>
          <p:nvPr/>
        </p:nvSpPr>
        <p:spPr>
          <a:xfrm>
            <a:off x="306551" y="3560090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</a:t>
            </a: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洞察：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8135" y="1386840"/>
            <a:ext cx="5634990" cy="1866265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 algn="l">
              <a:lnSpc>
                <a:spcPct val="11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等待时间占主导</a:t>
            </a:r>
            <a:r>
              <a:rPr kumimoji="1"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：Agent 在调用外部工具（如数据库、API）时，会进入异步等待状态，导致 GPU 等计算资源出现 “空洞”（Bubble），利用率骤降（最高可达 54.5% 的空闲时间）。</a:t>
            </a: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l">
              <a:lnSpc>
                <a:spcPct val="11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缓存管理困境</a:t>
            </a:r>
            <a:r>
              <a:rPr kumimoji="1"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：为维持长上下文，KV 缓存随轮数线性增长，显存占用激增。过早卸载 KV 会导致下一轮请求时的加载延迟，而长期 “固定” 在显存中则会挤占其他任务资源，导致系统整体吞吐率下降 30%-50%。</a:t>
            </a: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l">
              <a:lnSpc>
                <a:spcPct val="11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复用在多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下变难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：多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系统的动态交互特性与异构需求，打破了传统单模型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KV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复用的前提条件，导致复用难度显著提升。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8930" y="977900"/>
            <a:ext cx="562419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在多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Agent 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场景中，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系统性能的主要制约因素不再是模型的计算速度（算力），而是转向了各类等待延迟和 KV 缓存管理的低效。</a:t>
            </a:r>
            <a:endParaRPr lang="zh-CN" altLang="en-US" sz="1600"/>
          </a:p>
        </p:txBody>
      </p:sp>
      <p:sp>
        <p:nvSpPr>
          <p:cNvPr id="30" name="文本框 29"/>
          <p:cNvSpPr txBox="1"/>
          <p:nvPr/>
        </p:nvSpPr>
        <p:spPr>
          <a:xfrm>
            <a:off x="328930" y="4580255"/>
            <a:ext cx="5606415" cy="146050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p>
            <a:pPr marL="171450" indent="-171450" algn="l">
              <a:lnSpc>
                <a:spcPct val="11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局部与全局的冲突：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针对单个 Agent 或单个请求的优化（如降低延迟）可能会损害系统的整体性能（如降低吞吐率）。</a:t>
            </a:r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l">
              <a:lnSpc>
                <a:spcPct val="11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多目标间的强耦合：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 KV 缓存的复用率通常会伴随模型输出精度的边际衰减，这种权衡关系会随着系统负载、任务类型的变化而动态演化。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l">
              <a:lnSpc>
                <a:spcPct val="11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在线自适应的挑战：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冲突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目标随业务流量、数据分布、系统负载的变化动态演化。因此系统需要在线感知全局状态，实时调整资源分配与任务调度策略。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pic>
        <p:nvPicPr>
          <p:cNvPr id="20" name="图片 19" descr="3.4_KVFLOW2"/>
          <p:cNvPicPr>
            <a:picLocks noChangeAspect="1"/>
          </p:cNvPicPr>
          <p:nvPr/>
        </p:nvPicPr>
        <p:blipFill>
          <a:blip r:embed="rId1"/>
          <a:srcRect l="7406" t="14762" r="5250" b="1723"/>
          <a:stretch>
            <a:fillRect/>
          </a:stretch>
        </p:blipFill>
        <p:spPr>
          <a:xfrm>
            <a:off x="6399530" y="1520825"/>
            <a:ext cx="5200650" cy="15982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8930" y="3253105"/>
            <a:ext cx="565086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l"/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缓存复用可有效提升</a:t>
            </a:r>
            <a:r>
              <a:rPr kumimoji="1" lang="zh-CN" altLang="en-US" sz="1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kumimoji="1" lang="en-US" altLang="zh-CN" sz="1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kumimoji="1" lang="zh-CN" altLang="en-US" sz="1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推理服务的响应速度与资源利用率</a:t>
            </a:r>
            <a:endParaRPr kumimoji="1" lang="zh-CN" altLang="en-US" sz="1200"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8930" y="6099175"/>
            <a:ext cx="565086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l"/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SLO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需求与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缓存复用之间的平衡问题是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86170" y="3561080"/>
            <a:ext cx="5650865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l"/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核心洞察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可结合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SLO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需求与数据特点，提升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缓存复用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kumimoji="1"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86096" y="5637175"/>
            <a:ext cx="5627182" cy="324000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4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86170" y="6040755"/>
            <a:ext cx="564007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SLO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出发，考虑多Agent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工作流中，不同数据的缓存方式（压缩率，缓存位置），复用方式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0</TotalTime>
  <Words>3369</Words>
  <Application>WPS 演示</Application>
  <PresentationFormat>自定义</PresentationFormat>
  <Paragraphs>121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.AppleSystemUIFont</vt:lpstr>
      <vt:lpstr>LaTeX</vt:lpstr>
      <vt:lpstr>Arial</vt:lpstr>
      <vt:lpstr>黑体</vt:lpstr>
      <vt:lpstr>Wingdings</vt:lpstr>
      <vt:lpstr>Arial Unicode MS</vt:lpstr>
      <vt:lpstr>Calibri</vt:lpstr>
      <vt:lpstr>等线</vt:lpstr>
      <vt:lpstr>封面页_图片版 </vt:lpstr>
      <vt:lpstr>目录页</vt:lpstr>
      <vt:lpstr>章节页</vt:lpstr>
      <vt:lpstr>结束页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zhuguohua (C)</dc:creator>
  <cp:lastModifiedBy>Warren</cp:lastModifiedBy>
  <cp:revision>1547</cp:revision>
  <dcterms:created xsi:type="dcterms:W3CDTF">2019-07-19T03:09:00Z</dcterms:created>
  <dcterms:modified xsi:type="dcterms:W3CDTF">2026-03-07T05:58:42Z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(3)z94moJfWC27eGbP2bD9zKbT8aSSJF/MGAfoWWYsUEV2waXGG/cjuaUK9tPT2RveBB8+Alx5p
8aBZhYJtDy2D6GpE2/iGLRode4T23wmsK+RuZPIvqTUO65RdlNA24aBewOJ77n3QKDxxwJu4
3F5LDt4j0U6ESPmqO9/NF95QNYoGboxTveOloa3GxdVxoBX9MStXaefNfZ+wZ4kdmKQf82po
SPxzHloaq20o7yjHQ7</vt:lpwstr>
  </property>
  <property fmtid="{D5CDD505-2E9C-101B-9397-08002B2CF9AE}" pid="3" name="_2015_ms_pID_7253431">
    <vt:lpwstr>kY5iZakx06065nxScrEMqkZpoyiQtduh5MXLQlYYqdNelLwwPR1K9s
s6092Xwb4tMbqFsIk8HqurIt+3DwAnQfRQ7br/Pj3dsEn4UkT3NbjUQTHvMllOr2VwVAmyfe
Eo6vTGQAfgYwTY7g0THGZcUkl5yDERzAeVfjjzsmOKf//FRMjvJfIhZfIAj/5yyrjg+npxEy
gHDirxeitolmUU2Oc/IRO2MCSkyvzSCFXLaS</vt:lpwstr>
  </property>
  <property fmtid="{D5CDD505-2E9C-101B-9397-08002B2CF9AE}" pid="4" name="_2015_ms_pID_7253432">
    <vt:lpwstr>gcf7zXIZzRfY9j+PxfkcxoE=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1754634187</vt:lpwstr>
  </property>
  <property fmtid="{D5CDD505-2E9C-101B-9397-08002B2CF9AE}" pid="9" name="ICV">
    <vt:lpwstr>EC96B809344E4A4B90D2CBF81F5E035F_12</vt:lpwstr>
  </property>
  <property fmtid="{D5CDD505-2E9C-101B-9397-08002B2CF9AE}" pid="10" name="KSOProductBuildVer">
    <vt:lpwstr>2052-12.1.0.25225</vt:lpwstr>
  </property>
</Properties>
</file>